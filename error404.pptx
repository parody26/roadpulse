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Familjen Grotesk Bold" panose="020B0604020202020204" charset="0"/>
      <p:regular r:id="rId13"/>
    </p:embeddedFont>
    <p:embeddedFont>
      <p:font typeface="Onest" panose="020B0604020202020204" charset="0"/>
      <p:regular r:id="rId14"/>
    </p:embeddedFont>
    <p:embeddedFont>
      <p:font typeface="Calibri" panose="020F0502020204030204" pitchFamily="34" charset="0"/>
      <p:regular r:id="rId15"/>
      <p:bold r:id="rId16"/>
      <p:italic r:id="rId17"/>
      <p:boldItalic r:id="rId18"/>
    </p:embeddedFont>
    <p:embeddedFont>
      <p:font typeface="Onest SemiBold" panose="020B0604020202020204" charset="0"/>
      <p:regular r:id="rId19"/>
    </p:embeddedFont>
    <p:embeddedFont>
      <p:font typeface="Onest Bold"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3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705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RoadPulse is a proposed road-intelligence workflow, not a deployed product. The detection overlay is illustrative. GPS-based mapping is part of the proposed workflow, rather than a claim about this photograph.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flow left to right across the top row, then across the bottom row. Location association requires a usable GPS track or supplied location information; ordinary video alone does not guarantee accurate coordinates.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uses Python and FastAPI. The proposed architecture follows the numbered sequence across both rows. The team must test detector suitability and location alignment on sample material before treating outputs as reliable.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smaller hypothetical budget, B plus C produces 11 benefit points, exceeding A alone at 8 or B alone at 7. At a budget of 9, all three repairs fit. This simplified example assumes independent repairs and additive benefits. Actual cost estimates, benefit weights and operational constraints need validation.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D174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0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D174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80E33"/>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693366"/>
            <a:ext cx="7111822"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FFFFFF"/>
                </a:solidFill>
                <a:latin typeface="Onest SemiBold" pitchFamily="34" charset="0"/>
                <a:ea typeface="Onest SemiBold" pitchFamily="34" charset="-122"/>
                <a:cs typeface="Onest SemiBold" pitchFamily="34" charset="-120"/>
              </a:rPr>
              <a:t>OPEN INNOVATION · PROPOSED HACKATHON MVP</a:t>
            </a:r>
            <a:endParaRPr lang="en-US" sz="1050" dirty="0"/>
          </a:p>
        </p:txBody>
      </p:sp>
      <p:sp>
        <p:nvSpPr>
          <p:cNvPr id="3" name="Text 1"/>
          <p:cNvSpPr/>
          <p:nvPr/>
        </p:nvSpPr>
        <p:spPr>
          <a:xfrm>
            <a:off x="609585" y="2021115"/>
            <a:ext cx="6502237" cy="696912"/>
          </a:xfrm>
          <a:prstGeom prst="rect">
            <a:avLst/>
          </a:prstGeom>
          <a:noFill/>
          <a:ln/>
        </p:spPr>
        <p:txBody>
          <a:bodyPr wrap="none" lIns="0" tIns="0" rIns="0" bIns="0" rtlCol="0" anchor="t"/>
          <a:lstStyle/>
          <a:p>
            <a:pPr marL="0" indent="0" algn="l">
              <a:lnSpc>
                <a:spcPct val="82000"/>
              </a:lnSpc>
              <a:buNone/>
            </a:pPr>
            <a:r>
              <a:rPr lang="en-US" sz="5600" b="1" kern="100" spc="-168" dirty="0">
                <a:solidFill>
                  <a:srgbClr val="FFFFFF"/>
                </a:solidFill>
                <a:latin typeface="Familjen Grotesk Bold" pitchFamily="34" charset="0"/>
                <a:ea typeface="Familjen Grotesk Bold" pitchFamily="34" charset="-122"/>
                <a:cs typeface="Familjen Grotesk Bold" pitchFamily="34" charset="-120"/>
              </a:rPr>
              <a:t>RoadPulse</a:t>
            </a:r>
            <a:endParaRPr lang="en-US" sz="5600" dirty="0"/>
          </a:p>
        </p:txBody>
      </p:sp>
      <p:sp>
        <p:nvSpPr>
          <p:cNvPr id="4" name="Text 2"/>
          <p:cNvSpPr/>
          <p:nvPr/>
        </p:nvSpPr>
        <p:spPr>
          <a:xfrm>
            <a:off x="609585" y="2854472"/>
            <a:ext cx="6502237" cy="1476673"/>
          </a:xfrm>
          <a:prstGeom prst="rect">
            <a:avLst/>
          </a:prstGeom>
          <a:noFill/>
          <a:ln/>
        </p:spPr>
        <p:txBody>
          <a:bodyPr wrap="square" lIns="0" tIns="0" rIns="0" bIns="0" rtlCol="0" anchor="t">
            <a:normAutofit lnSpcReduction="10000"/>
          </a:bodyPr>
          <a:lstStyle/>
          <a:p>
            <a:pPr marL="0" indent="0" algn="l">
              <a:lnSpc>
                <a:spcPct val="85000"/>
              </a:lnSpc>
              <a:buNone/>
            </a:pPr>
            <a:r>
              <a:rPr lang="en-US" sz="3800" b="1" kern="100" spc="-95" dirty="0">
                <a:solidFill>
                  <a:srgbClr val="FFFFFF"/>
                </a:solidFill>
                <a:latin typeface="Familjen Grotesk Bold" pitchFamily="34" charset="0"/>
                <a:ea typeface="Familjen Grotesk Bold" pitchFamily="34" charset="-122"/>
                <a:cs typeface="Familjen Grotesk Bold" pitchFamily="34" charset="-120"/>
              </a:rPr>
              <a:t>Smarter Roads.</a:t>
            </a:r>
            <a:endParaRPr lang="en-US" sz="3800" dirty="0"/>
          </a:p>
          <a:p>
            <a:pPr marL="0" indent="0" algn="l">
              <a:lnSpc>
                <a:spcPct val="85000"/>
              </a:lnSpc>
              <a:buNone/>
            </a:pPr>
            <a:r>
              <a:rPr lang="en-US" sz="3800" b="1" kern="100" spc="-95" dirty="0">
                <a:solidFill>
                  <a:srgbClr val="FFFFFF"/>
                </a:solidFill>
                <a:latin typeface="Familjen Grotesk Bold" pitchFamily="34" charset="0"/>
                <a:ea typeface="Familjen Grotesk Bold" pitchFamily="34" charset="-122"/>
                <a:cs typeface="Familjen Grotesk Bold" pitchFamily="34" charset="-120"/>
              </a:rPr>
              <a:t>Safer Journeys.</a:t>
            </a:r>
            <a:endParaRPr lang="en-US" sz="3800" dirty="0"/>
          </a:p>
          <a:p>
            <a:pPr marL="0" indent="0" algn="l">
              <a:lnSpc>
                <a:spcPct val="85000"/>
              </a:lnSpc>
              <a:buNone/>
            </a:pPr>
            <a:r>
              <a:rPr lang="en-US" sz="3800" b="1" kern="100" spc="-95" dirty="0">
                <a:solidFill>
                  <a:srgbClr val="BFEBFF"/>
                </a:solidFill>
                <a:latin typeface="Familjen Grotesk Bold" pitchFamily="34" charset="0"/>
                <a:ea typeface="Familjen Grotesk Bold" pitchFamily="34" charset="-122"/>
                <a:cs typeface="Familjen Grotesk Bold" pitchFamily="34" charset="-120"/>
              </a:rPr>
              <a:t>Data-Driven Repairs.</a:t>
            </a:r>
            <a:endParaRPr lang="en-US" sz="3800" dirty="0"/>
          </a:p>
        </p:txBody>
      </p:sp>
      <p:sp>
        <p:nvSpPr>
          <p:cNvPr id="5" name="Shape 3"/>
          <p:cNvSpPr/>
          <p:nvPr/>
        </p:nvSpPr>
        <p:spPr>
          <a:xfrm>
            <a:off x="609585" y="4585692"/>
            <a:ext cx="711182" cy="38100"/>
          </a:xfrm>
          <a:prstGeom prst="roundRect">
            <a:avLst>
              <a:gd name="adj" fmla="val 49999"/>
            </a:avLst>
          </a:prstGeom>
          <a:solidFill>
            <a:srgbClr val="BFEBFF"/>
          </a:solidFill>
          <a:ln/>
        </p:spPr>
      </p:sp>
      <p:sp>
        <p:nvSpPr>
          <p:cNvPr id="6" name="Text 4"/>
          <p:cNvSpPr/>
          <p:nvPr/>
        </p:nvSpPr>
        <p:spPr>
          <a:xfrm>
            <a:off x="609585" y="4852392"/>
            <a:ext cx="7111822" cy="315416"/>
          </a:xfrm>
          <a:prstGeom prst="rect">
            <a:avLst/>
          </a:prstGeom>
          <a:noFill/>
          <a:ln/>
        </p:spPr>
        <p:txBody>
          <a:bodyPr wrap="none" lIns="0" tIns="0" rIns="0" bIns="0" rtlCol="0" anchor="t"/>
          <a:lstStyle/>
          <a:p>
            <a:pPr marL="0" indent="0" algn="l">
              <a:lnSpc>
                <a:spcPct val="115000"/>
              </a:lnSpc>
              <a:buNone/>
            </a:pPr>
            <a:r>
              <a:rPr lang="en-US" sz="1800" dirty="0">
                <a:solidFill>
                  <a:srgbClr val="FFFFFF"/>
                </a:solidFill>
                <a:latin typeface="Onest" pitchFamily="34" charset="0"/>
                <a:ea typeface="Onest" pitchFamily="34" charset="-122"/>
                <a:cs typeface="Onest" pitchFamily="34" charset="-120"/>
              </a:rPr>
              <a:t>AI-Powered Road Intelligence and Repair Prioritization.</a:t>
            </a:r>
            <a:endParaRPr lang="en-US" sz="1800" dirty="0"/>
          </a:p>
        </p:txBody>
      </p:sp>
      <p:sp>
        <p:nvSpPr>
          <p:cNvPr id="7" name="Shape 5"/>
          <p:cNvSpPr/>
          <p:nvPr/>
        </p:nvSpPr>
        <p:spPr>
          <a:xfrm>
            <a:off x="8457988" y="4381500"/>
            <a:ext cx="2158946" cy="1270000"/>
          </a:xfrm>
          <a:prstGeom prst="rect">
            <a:avLst/>
          </a:prstGeom>
          <a:noFill/>
          <a:ln w="25399">
            <a:solidFill>
              <a:srgbClr val="BFEBFF"/>
            </a:solidFill>
            <a:prstDash val="solid"/>
          </a:ln>
        </p:spPr>
      </p:sp>
      <p:sp>
        <p:nvSpPr>
          <p:cNvPr id="8" name="Text 6"/>
          <p:cNvSpPr/>
          <p:nvPr/>
        </p:nvSpPr>
        <p:spPr>
          <a:xfrm>
            <a:off x="8508787" y="5715159"/>
            <a:ext cx="3492413"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FFFFFF"/>
                </a:solidFill>
                <a:latin typeface="Onest" pitchFamily="34" charset="0"/>
                <a:ea typeface="Onest" pitchFamily="34" charset="-122"/>
                <a:cs typeface="Onest" pitchFamily="34" charset="-120"/>
              </a:rPr>
              <a:t>Conceptual detection overlay</a:t>
            </a:r>
            <a:endParaRPr lang="en-US" sz="1150" dirty="0"/>
          </a:p>
        </p:txBody>
      </p:sp>
      <p:sp>
        <p:nvSpPr>
          <p:cNvPr id="10" name="Rectangle 9"/>
          <p:cNvSpPr/>
          <p:nvPr/>
        </p:nvSpPr>
        <p:spPr>
          <a:xfrm>
            <a:off x="0" y="6591993"/>
            <a:ext cx="12183687" cy="257694"/>
          </a:xfrm>
          <a:prstGeom prst="rect">
            <a:avLst/>
          </a:prstGeom>
          <a:solidFill>
            <a:schemeClr val="bg1">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2775"/>
            <a:ext cx="6705432"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THE PROBLEM</a:t>
            </a:r>
            <a:endParaRPr lang="en-US" sz="1050" dirty="0"/>
          </a:p>
        </p:txBody>
      </p:sp>
      <p:sp>
        <p:nvSpPr>
          <p:cNvPr id="3" name="Text 1"/>
          <p:cNvSpPr/>
          <p:nvPr/>
        </p:nvSpPr>
        <p:spPr>
          <a:xfrm>
            <a:off x="609585" y="892676"/>
            <a:ext cx="6095848" cy="880864"/>
          </a:xfrm>
          <a:prstGeom prst="rect">
            <a:avLst/>
          </a:prstGeom>
          <a:noFill/>
          <a:ln/>
        </p:spPr>
        <p:txBody>
          <a:bodyPr wrap="square" lIns="0" tIns="0" rIns="0" bIns="0" rtlCol="0" anchor="t">
            <a:normAutofit lnSpcReduction="10000"/>
          </a:bodyPr>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Damaged roads are hard to inspect, report and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prioritize</a:t>
            </a:r>
            <a:endParaRPr lang="en-US" sz="3400" dirty="0"/>
          </a:p>
        </p:txBody>
      </p:sp>
      <p:sp>
        <p:nvSpPr>
          <p:cNvPr id="4" name="Shape 2"/>
          <p:cNvSpPr/>
          <p:nvPr/>
        </p:nvSpPr>
        <p:spPr>
          <a:xfrm>
            <a:off x="609585" y="2032992"/>
            <a:ext cx="711182" cy="31651"/>
          </a:xfrm>
          <a:prstGeom prst="roundRect">
            <a:avLst>
              <a:gd name="adj" fmla="val 49998"/>
            </a:avLst>
          </a:prstGeom>
          <a:solidFill>
            <a:srgbClr val="BFEBFF"/>
          </a:solidFill>
          <a:ln/>
        </p:spPr>
      </p:sp>
      <p:sp>
        <p:nvSpPr>
          <p:cNvPr id="5" name="Text 3"/>
          <p:cNvSpPr/>
          <p:nvPr/>
        </p:nvSpPr>
        <p:spPr>
          <a:xfrm>
            <a:off x="609585" y="2291755"/>
            <a:ext cx="6095848" cy="2165945"/>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Potholes and cracks create road safety hazards.</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Manual inspections are slow, costly and hard to scale.</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Citizen complaints may repeat incidents or miss accurate locations.</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There is no unified, data-driven way to decide what to fix first.</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Limited maintenance budgets force hard trade-offs.</a:t>
            </a:r>
            <a:endParaRPr lang="en-US" sz="1600" dirty="0"/>
          </a:p>
        </p:txBody>
      </p:sp>
      <p:pic>
        <p:nvPicPr>
          <p:cNvPr id="6"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PROPOSED SOLUTION</a:t>
            </a:r>
            <a:endParaRPr lang="en-US" sz="1050" dirty="0"/>
          </a:p>
        </p:txBody>
      </p:sp>
      <p:sp>
        <p:nvSpPr>
          <p:cNvPr id="3" name="Text 1"/>
          <p:cNvSpPr/>
          <p:nvPr/>
        </p:nvSpPr>
        <p:spPr>
          <a:xfrm>
            <a:off x="609585" y="892676"/>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RoadPulse turns raw road video into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repair decisions</a:t>
            </a:r>
            <a:endParaRPr lang="en-US" sz="3400" dirty="0"/>
          </a:p>
        </p:txBody>
      </p:sp>
      <p:sp>
        <p:nvSpPr>
          <p:cNvPr id="4" name="Text 2"/>
          <p:cNvSpPr/>
          <p:nvPr/>
        </p:nvSpPr>
        <p:spPr>
          <a:xfrm>
            <a:off x="609585" y="1467148"/>
            <a:ext cx="10972526" cy="342900"/>
          </a:xfrm>
          <a:prstGeom prst="rect">
            <a:avLst/>
          </a:prstGeom>
          <a:noFill/>
          <a:ln/>
        </p:spPr>
        <p:txBody>
          <a:bodyPr wrap="none" lIns="0" tIns="0" rIns="0" bIns="0" rtlCol="0" anchor="t"/>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120"/>
              </a:rPr>
              <a:t>One evidence trail, from a detected defect to a human-confirmed repair.</a:t>
            </a:r>
            <a:endParaRPr lang="en-US" sz="2000" dirty="0"/>
          </a:p>
        </p:txBody>
      </p:sp>
      <p:sp>
        <p:nvSpPr>
          <p:cNvPr id="5" name="Text 3"/>
          <p:cNvSpPr/>
          <p:nvPr/>
        </p:nvSpPr>
        <p:spPr>
          <a:xfrm>
            <a:off x="609585" y="2000548"/>
            <a:ext cx="821610"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01</a:t>
            </a:r>
            <a:endParaRPr lang="en-US" sz="1600" dirty="0"/>
          </a:p>
        </p:txBody>
      </p:sp>
      <p:sp>
        <p:nvSpPr>
          <p:cNvPr id="6" name="Shape 4"/>
          <p:cNvSpPr/>
          <p:nvPr/>
        </p:nvSpPr>
        <p:spPr>
          <a:xfrm>
            <a:off x="609585" y="2285008"/>
            <a:ext cx="3454314" cy="19050"/>
          </a:xfrm>
          <a:prstGeom prst="rect">
            <a:avLst/>
          </a:prstGeom>
          <a:solidFill>
            <a:srgbClr val="7FA6F2"/>
          </a:solidFill>
          <a:ln/>
        </p:spPr>
      </p:sp>
      <p:sp>
        <p:nvSpPr>
          <p:cNvPr id="7" name="Text 5"/>
          <p:cNvSpPr/>
          <p:nvPr/>
        </p:nvSpPr>
        <p:spPr>
          <a:xfrm>
            <a:off x="609585" y="2425898"/>
            <a:ext cx="3454314"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Detect → Map</a:t>
            </a:r>
            <a:endParaRPr lang="en-US" sz="1800" dirty="0"/>
          </a:p>
        </p:txBody>
      </p:sp>
      <p:sp>
        <p:nvSpPr>
          <p:cNvPr id="8" name="Text 6"/>
          <p:cNvSpPr/>
          <p:nvPr/>
        </p:nvSpPr>
        <p:spPr>
          <a:xfrm>
            <a:off x="609585" y="2924969"/>
            <a:ext cx="3454314"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Find potholes, cracks and damaged surfaces; associate evidence with GPS locations.</a:t>
            </a:r>
            <a:endParaRPr lang="en-US" sz="1600" dirty="0"/>
          </a:p>
        </p:txBody>
      </p:sp>
      <p:sp>
        <p:nvSpPr>
          <p:cNvPr id="9" name="Text 7"/>
          <p:cNvSpPr/>
          <p:nvPr/>
        </p:nvSpPr>
        <p:spPr>
          <a:xfrm>
            <a:off x="4368691" y="2000548"/>
            <a:ext cx="855343"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02</a:t>
            </a:r>
            <a:endParaRPr lang="en-US" sz="1600" dirty="0"/>
          </a:p>
        </p:txBody>
      </p:sp>
      <p:sp>
        <p:nvSpPr>
          <p:cNvPr id="10" name="Shape 8"/>
          <p:cNvSpPr/>
          <p:nvPr/>
        </p:nvSpPr>
        <p:spPr>
          <a:xfrm>
            <a:off x="4368691" y="2285008"/>
            <a:ext cx="3454314" cy="19050"/>
          </a:xfrm>
          <a:prstGeom prst="rect">
            <a:avLst/>
          </a:prstGeom>
          <a:solidFill>
            <a:srgbClr val="7FA6F2"/>
          </a:solidFill>
          <a:ln/>
        </p:spPr>
      </p:sp>
      <p:sp>
        <p:nvSpPr>
          <p:cNvPr id="11" name="Text 9"/>
          <p:cNvSpPr/>
          <p:nvPr/>
        </p:nvSpPr>
        <p:spPr>
          <a:xfrm>
            <a:off x="4368691" y="2425898"/>
            <a:ext cx="3454314"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Prioritize → Report</a:t>
            </a:r>
            <a:endParaRPr lang="en-US" sz="1800" dirty="0"/>
          </a:p>
        </p:txBody>
      </p:sp>
      <p:sp>
        <p:nvSpPr>
          <p:cNvPr id="12" name="Text 10"/>
          <p:cNvSpPr/>
          <p:nvPr/>
        </p:nvSpPr>
        <p:spPr>
          <a:xfrm>
            <a:off x="4368691" y="2924969"/>
            <a:ext cx="3454314"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Explain risk, account for budget and generate an actionable repair report.</a:t>
            </a:r>
            <a:endParaRPr lang="en-US" sz="1600" dirty="0"/>
          </a:p>
        </p:txBody>
      </p:sp>
      <p:sp>
        <p:nvSpPr>
          <p:cNvPr id="13" name="Text 11"/>
          <p:cNvSpPr/>
          <p:nvPr/>
        </p:nvSpPr>
        <p:spPr>
          <a:xfrm>
            <a:off x="8127797" y="2000548"/>
            <a:ext cx="867646"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03</a:t>
            </a:r>
            <a:endParaRPr lang="en-US" sz="1600" dirty="0"/>
          </a:p>
        </p:txBody>
      </p:sp>
      <p:sp>
        <p:nvSpPr>
          <p:cNvPr id="14" name="Shape 12"/>
          <p:cNvSpPr/>
          <p:nvPr/>
        </p:nvSpPr>
        <p:spPr>
          <a:xfrm>
            <a:off x="8127797" y="2285008"/>
            <a:ext cx="3454314" cy="19050"/>
          </a:xfrm>
          <a:prstGeom prst="rect">
            <a:avLst/>
          </a:prstGeom>
          <a:solidFill>
            <a:srgbClr val="7FA6F2"/>
          </a:solidFill>
          <a:ln/>
        </p:spPr>
      </p:sp>
      <p:sp>
        <p:nvSpPr>
          <p:cNvPr id="15" name="Text 13"/>
          <p:cNvSpPr/>
          <p:nvPr/>
        </p:nvSpPr>
        <p:spPr>
          <a:xfrm>
            <a:off x="8127797" y="2425898"/>
            <a:ext cx="3454314"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Repair → Verify</a:t>
            </a:r>
            <a:endParaRPr lang="en-US" sz="1800" dirty="0"/>
          </a:p>
        </p:txBody>
      </p:sp>
      <p:sp>
        <p:nvSpPr>
          <p:cNvPr id="16" name="Text 14"/>
          <p:cNvSpPr/>
          <p:nvPr/>
        </p:nvSpPr>
        <p:spPr>
          <a:xfrm>
            <a:off x="8127797" y="2924969"/>
            <a:ext cx="3454314" cy="841177"/>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Track the work and compare before-and-after evidence with human confirmation.</a:t>
            </a:r>
            <a:endParaRPr lang="en-US" sz="1600" dirty="0"/>
          </a:p>
        </p:txBody>
      </p:sp>
      <p:sp>
        <p:nvSpPr>
          <p:cNvPr id="17" name="Text 15"/>
          <p:cNvSpPr/>
          <p:nvPr/>
        </p:nvSpPr>
        <p:spPr>
          <a:xfrm>
            <a:off x="609585" y="6058753"/>
            <a:ext cx="11582110"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120"/>
              </a:rPr>
              <a:t>Proposed workflow · AI supports prioritization; people retain repair decisions.</a:t>
            </a:r>
            <a:endParaRPr lang="en-US" sz="1150" dirty="0"/>
          </a:p>
        </p:txBody>
      </p:sp>
      <p:sp>
        <p:nvSpPr>
          <p:cNvPr id="20" name="Rectangle 19"/>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34975"/>
            <a:ext cx="1163290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HACKATHON MVP WORKFLOW</a:t>
            </a:r>
            <a:endParaRPr lang="en-US" sz="1050" dirty="0"/>
          </a:p>
        </p:txBody>
      </p:sp>
      <p:sp>
        <p:nvSpPr>
          <p:cNvPr id="3" name="Text 1"/>
          <p:cNvSpPr/>
          <p:nvPr/>
        </p:nvSpPr>
        <p:spPr>
          <a:xfrm>
            <a:off x="558786" y="714876"/>
            <a:ext cx="11074123"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How it works: eight steps from upload to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verified repair</a:t>
            </a:r>
            <a:endParaRPr lang="en-US" sz="3400" dirty="0"/>
          </a:p>
        </p:txBody>
      </p:sp>
      <p:pic>
        <p:nvPicPr>
          <p:cNvPr id="4" name="Image 0" descr="preencoded.png"/>
          <p:cNvPicPr>
            <a:picLocks noChangeAspect="1"/>
          </p:cNvPicPr>
          <p:nvPr/>
        </p:nvPicPr>
        <p:blipFill>
          <a:blip r:embed="rId3"/>
          <a:stretch>
            <a:fillRect/>
          </a:stretch>
        </p:blipFill>
        <p:spPr>
          <a:xfrm>
            <a:off x="558786" y="1365548"/>
            <a:ext cx="406390" cy="406400"/>
          </a:xfrm>
          <a:prstGeom prst="rect">
            <a:avLst/>
          </a:prstGeom>
        </p:spPr>
      </p:pic>
      <p:sp>
        <p:nvSpPr>
          <p:cNvPr id="5" name="Text 2"/>
          <p:cNvSpPr/>
          <p:nvPr/>
        </p:nvSpPr>
        <p:spPr>
          <a:xfrm>
            <a:off x="558786" y="1886248"/>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Upload video</a:t>
            </a:r>
            <a:endParaRPr lang="en-US" sz="1800" dirty="0"/>
          </a:p>
        </p:txBody>
      </p:sp>
      <p:sp>
        <p:nvSpPr>
          <p:cNvPr id="6" name="Text 3"/>
          <p:cNvSpPr/>
          <p:nvPr/>
        </p:nvSpPr>
        <p:spPr>
          <a:xfrm>
            <a:off x="558786" y="2385318"/>
            <a:ext cx="2616135"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Submit a road inspection recording.</a:t>
            </a:r>
            <a:endParaRPr lang="en-US" sz="1350" dirty="0"/>
          </a:p>
        </p:txBody>
      </p:sp>
      <p:pic>
        <p:nvPicPr>
          <p:cNvPr id="7" name="Image 1" descr="preencoded.png"/>
          <p:cNvPicPr>
            <a:picLocks noChangeAspect="1"/>
          </p:cNvPicPr>
          <p:nvPr/>
        </p:nvPicPr>
        <p:blipFill>
          <a:blip r:embed="rId4"/>
          <a:stretch>
            <a:fillRect/>
          </a:stretch>
        </p:blipFill>
        <p:spPr>
          <a:xfrm>
            <a:off x="3479713" y="1365548"/>
            <a:ext cx="406390" cy="406400"/>
          </a:xfrm>
          <a:prstGeom prst="rect">
            <a:avLst/>
          </a:prstGeom>
        </p:spPr>
      </p:pic>
      <p:sp>
        <p:nvSpPr>
          <p:cNvPr id="8" name="Text 4"/>
          <p:cNvSpPr/>
          <p:nvPr/>
        </p:nvSpPr>
        <p:spPr>
          <a:xfrm>
            <a:off x="3479713" y="1886248"/>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Detect damage</a:t>
            </a:r>
            <a:endParaRPr lang="en-US" sz="1800" dirty="0"/>
          </a:p>
        </p:txBody>
      </p:sp>
      <p:sp>
        <p:nvSpPr>
          <p:cNvPr id="9" name="Text 5"/>
          <p:cNvSpPr/>
          <p:nvPr/>
        </p:nvSpPr>
        <p:spPr>
          <a:xfrm>
            <a:off x="3479713" y="2385318"/>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Analyze damage in video frames.</a:t>
            </a:r>
            <a:endParaRPr lang="en-US" sz="1350" dirty="0"/>
          </a:p>
        </p:txBody>
      </p:sp>
      <p:pic>
        <p:nvPicPr>
          <p:cNvPr id="10" name="Image 2" descr="preencoded.png"/>
          <p:cNvPicPr>
            <a:picLocks noChangeAspect="1"/>
          </p:cNvPicPr>
          <p:nvPr/>
        </p:nvPicPr>
        <p:blipFill>
          <a:blip r:embed="rId5"/>
          <a:stretch>
            <a:fillRect/>
          </a:stretch>
        </p:blipFill>
        <p:spPr>
          <a:xfrm>
            <a:off x="6248244" y="1365548"/>
            <a:ext cx="406390" cy="406400"/>
          </a:xfrm>
          <a:prstGeom prst="rect">
            <a:avLst/>
          </a:prstGeom>
        </p:spPr>
      </p:pic>
      <p:sp>
        <p:nvSpPr>
          <p:cNvPr id="11" name="Text 6"/>
          <p:cNvSpPr/>
          <p:nvPr/>
        </p:nvSpPr>
        <p:spPr>
          <a:xfrm>
            <a:off x="6248244" y="1886248"/>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Associate GPS</a:t>
            </a:r>
            <a:endParaRPr lang="en-US" sz="1800" dirty="0"/>
          </a:p>
        </p:txBody>
      </p:sp>
      <p:sp>
        <p:nvSpPr>
          <p:cNvPr id="12" name="Text 7"/>
          <p:cNvSpPr/>
          <p:nvPr/>
        </p:nvSpPr>
        <p:spPr>
          <a:xfrm>
            <a:off x="6248244" y="2385318"/>
            <a:ext cx="2463738"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Tie detections to locations.</a:t>
            </a:r>
            <a:endParaRPr lang="en-US" sz="1350" dirty="0"/>
          </a:p>
        </p:txBody>
      </p:sp>
      <p:pic>
        <p:nvPicPr>
          <p:cNvPr id="13" name="Image 3" descr="preencoded.png"/>
          <p:cNvPicPr>
            <a:picLocks noChangeAspect="1"/>
          </p:cNvPicPr>
          <p:nvPr/>
        </p:nvPicPr>
        <p:blipFill>
          <a:blip r:embed="rId6"/>
          <a:stretch>
            <a:fillRect/>
          </a:stretch>
        </p:blipFill>
        <p:spPr>
          <a:xfrm>
            <a:off x="9016774" y="1365548"/>
            <a:ext cx="406390" cy="406400"/>
          </a:xfrm>
          <a:prstGeom prst="rect">
            <a:avLst/>
          </a:prstGeom>
        </p:spPr>
      </p:pic>
      <p:sp>
        <p:nvSpPr>
          <p:cNvPr id="14" name="Text 8"/>
          <p:cNvSpPr/>
          <p:nvPr/>
        </p:nvSpPr>
        <p:spPr>
          <a:xfrm>
            <a:off x="9016774" y="1886248"/>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Merge duplicates</a:t>
            </a:r>
            <a:endParaRPr lang="en-US" sz="1800" dirty="0"/>
          </a:p>
        </p:txBody>
      </p:sp>
      <p:sp>
        <p:nvSpPr>
          <p:cNvPr id="15" name="Text 9"/>
          <p:cNvSpPr/>
          <p:nvPr/>
        </p:nvSpPr>
        <p:spPr>
          <a:xfrm>
            <a:off x="9016774" y="2385318"/>
            <a:ext cx="2616135"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Create unique incidents.</a:t>
            </a:r>
            <a:endParaRPr lang="en-US" sz="1350" dirty="0"/>
          </a:p>
        </p:txBody>
      </p:sp>
      <p:pic>
        <p:nvPicPr>
          <p:cNvPr id="16" name="Image 4" descr="preencoded.png"/>
          <p:cNvPicPr>
            <a:picLocks noChangeAspect="1"/>
          </p:cNvPicPr>
          <p:nvPr/>
        </p:nvPicPr>
        <p:blipFill>
          <a:blip r:embed="rId7"/>
          <a:stretch>
            <a:fillRect/>
          </a:stretch>
        </p:blipFill>
        <p:spPr>
          <a:xfrm>
            <a:off x="558786" y="4048224"/>
            <a:ext cx="406390" cy="406400"/>
          </a:xfrm>
          <a:prstGeom prst="rect">
            <a:avLst/>
          </a:prstGeom>
        </p:spPr>
      </p:pic>
      <p:sp>
        <p:nvSpPr>
          <p:cNvPr id="17" name="Text 10"/>
          <p:cNvSpPr/>
          <p:nvPr/>
        </p:nvSpPr>
        <p:spPr>
          <a:xfrm>
            <a:off x="558786" y="4568924"/>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Rank risk</a:t>
            </a:r>
            <a:endParaRPr lang="en-US" sz="1800" dirty="0"/>
          </a:p>
        </p:txBody>
      </p:sp>
      <p:sp>
        <p:nvSpPr>
          <p:cNvPr id="18" name="Text 11"/>
          <p:cNvSpPr/>
          <p:nvPr/>
        </p:nvSpPr>
        <p:spPr>
          <a:xfrm>
            <a:off x="558786" y="5067995"/>
            <a:ext cx="2616135"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Score damaged locations.</a:t>
            </a:r>
            <a:endParaRPr lang="en-US" sz="1350" dirty="0"/>
          </a:p>
        </p:txBody>
      </p:sp>
      <p:pic>
        <p:nvPicPr>
          <p:cNvPr id="19" name="Image 5" descr="preencoded.png"/>
          <p:cNvPicPr>
            <a:picLocks noChangeAspect="1"/>
          </p:cNvPicPr>
          <p:nvPr/>
        </p:nvPicPr>
        <p:blipFill>
          <a:blip r:embed="rId8"/>
          <a:stretch>
            <a:fillRect/>
          </a:stretch>
        </p:blipFill>
        <p:spPr>
          <a:xfrm>
            <a:off x="3479713" y="4048224"/>
            <a:ext cx="406390" cy="406400"/>
          </a:xfrm>
          <a:prstGeom prst="rect">
            <a:avLst/>
          </a:prstGeom>
        </p:spPr>
      </p:pic>
      <p:sp>
        <p:nvSpPr>
          <p:cNvPr id="20" name="Text 12"/>
          <p:cNvSpPr/>
          <p:nvPr/>
        </p:nvSpPr>
        <p:spPr>
          <a:xfrm>
            <a:off x="3479713" y="4568924"/>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Optimize budget</a:t>
            </a:r>
            <a:endParaRPr lang="en-US" sz="1800" dirty="0"/>
          </a:p>
        </p:txBody>
      </p:sp>
      <p:sp>
        <p:nvSpPr>
          <p:cNvPr id="21" name="Text 13"/>
          <p:cNvSpPr/>
          <p:nvPr/>
        </p:nvSpPr>
        <p:spPr>
          <a:xfrm>
            <a:off x="3479713" y="5067995"/>
            <a:ext cx="2463738"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Recommend repair priorities.</a:t>
            </a:r>
            <a:endParaRPr lang="en-US" sz="1350" dirty="0"/>
          </a:p>
        </p:txBody>
      </p:sp>
      <p:pic>
        <p:nvPicPr>
          <p:cNvPr id="22" name="Image 6" descr="preencoded.png"/>
          <p:cNvPicPr>
            <a:picLocks noChangeAspect="1"/>
          </p:cNvPicPr>
          <p:nvPr/>
        </p:nvPicPr>
        <p:blipFill>
          <a:blip r:embed="rId9"/>
          <a:stretch>
            <a:fillRect/>
          </a:stretch>
        </p:blipFill>
        <p:spPr>
          <a:xfrm>
            <a:off x="6248244" y="4048224"/>
            <a:ext cx="406390" cy="406400"/>
          </a:xfrm>
          <a:prstGeom prst="rect">
            <a:avLst/>
          </a:prstGeom>
        </p:spPr>
      </p:pic>
      <p:sp>
        <p:nvSpPr>
          <p:cNvPr id="23" name="Text 14"/>
          <p:cNvSpPr/>
          <p:nvPr/>
        </p:nvSpPr>
        <p:spPr>
          <a:xfrm>
            <a:off x="6248244" y="4568924"/>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Generate report</a:t>
            </a:r>
            <a:endParaRPr lang="en-US" sz="1800" dirty="0"/>
          </a:p>
        </p:txBody>
      </p:sp>
      <p:sp>
        <p:nvSpPr>
          <p:cNvPr id="24" name="Text 15"/>
          <p:cNvSpPr/>
          <p:nvPr/>
        </p:nvSpPr>
        <p:spPr>
          <a:xfrm>
            <a:off x="6248244" y="5067995"/>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Prepare a work order or complaint.</a:t>
            </a:r>
            <a:endParaRPr lang="en-US" sz="1350" dirty="0"/>
          </a:p>
        </p:txBody>
      </p:sp>
      <p:pic>
        <p:nvPicPr>
          <p:cNvPr id="25" name="Image 7" descr="preencoded.png"/>
          <p:cNvPicPr>
            <a:picLocks noChangeAspect="1"/>
          </p:cNvPicPr>
          <p:nvPr/>
        </p:nvPicPr>
        <p:blipFill>
          <a:blip r:embed="rId10"/>
          <a:stretch>
            <a:fillRect/>
          </a:stretch>
        </p:blipFill>
        <p:spPr>
          <a:xfrm>
            <a:off x="9016774" y="4048224"/>
            <a:ext cx="406390" cy="406400"/>
          </a:xfrm>
          <a:prstGeom prst="rect">
            <a:avLst/>
          </a:prstGeom>
        </p:spPr>
      </p:pic>
      <p:sp>
        <p:nvSpPr>
          <p:cNvPr id="26" name="Text 16"/>
          <p:cNvSpPr/>
          <p:nvPr/>
        </p:nvSpPr>
        <p:spPr>
          <a:xfrm>
            <a:off x="9016774" y="4568924"/>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Record verification</a:t>
            </a:r>
            <a:endParaRPr lang="en-US" sz="1800" dirty="0"/>
          </a:p>
        </p:txBody>
      </p:sp>
      <p:sp>
        <p:nvSpPr>
          <p:cNvPr id="27" name="Text 17"/>
          <p:cNvSpPr/>
          <p:nvPr/>
        </p:nvSpPr>
        <p:spPr>
          <a:xfrm>
            <a:off x="9016774" y="5067995"/>
            <a:ext cx="2616135"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Save status and post-repair evidence.</a:t>
            </a:r>
            <a:endParaRPr lang="en-US" sz="1350" dirty="0"/>
          </a:p>
        </p:txBody>
      </p:sp>
      <p:sp>
        <p:nvSpPr>
          <p:cNvPr id="29" name="Rectangle 28"/>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PROPOSED CAPABILITIES · STILL TO BE IMPLEMENTED</a:t>
            </a:r>
            <a:endParaRPr lang="en-US" sz="1050" dirty="0"/>
          </a:p>
        </p:txBody>
      </p:sp>
      <p:sp>
        <p:nvSpPr>
          <p:cNvPr id="3" name="Text 1"/>
          <p:cNvSpPr/>
          <p:nvPr/>
        </p:nvSpPr>
        <p:spPr>
          <a:xfrm>
            <a:off x="609585" y="892676"/>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More than a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pothole detector</a:t>
            </a:r>
            <a:endParaRPr lang="en-US" sz="3400" dirty="0"/>
          </a:p>
        </p:txBody>
      </p:sp>
      <p:sp>
        <p:nvSpPr>
          <p:cNvPr id="4" name="Shape 2"/>
          <p:cNvSpPr/>
          <p:nvPr/>
        </p:nvSpPr>
        <p:spPr>
          <a:xfrm>
            <a:off x="609585" y="1543348"/>
            <a:ext cx="3555911" cy="2276277"/>
          </a:xfrm>
          <a:prstGeom prst="roundRect">
            <a:avLst>
              <a:gd name="adj" fmla="val 5356"/>
            </a:avLst>
          </a:prstGeom>
          <a:solidFill>
            <a:srgbClr val="152060"/>
          </a:solidFill>
          <a:ln w="6350">
            <a:solidFill>
              <a:srgbClr val="2B3A80"/>
            </a:solidFill>
            <a:prstDash val="solid"/>
          </a:ln>
        </p:spPr>
      </p:sp>
      <p:sp>
        <p:nvSpPr>
          <p:cNvPr id="5" name="Text 3"/>
          <p:cNvSpPr/>
          <p:nvPr/>
        </p:nvSpPr>
        <p:spPr>
          <a:xfrm>
            <a:off x="844529" y="1778298"/>
            <a:ext cx="3086023"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Beyond detection</a:t>
            </a:r>
            <a:endParaRPr lang="en-US" sz="1800" dirty="0"/>
          </a:p>
        </p:txBody>
      </p:sp>
      <p:sp>
        <p:nvSpPr>
          <p:cNvPr id="6" name="Text 4"/>
          <p:cNvSpPr/>
          <p:nvPr/>
        </p:nvSpPr>
        <p:spPr>
          <a:xfrm>
            <a:off x="844529" y="2277368"/>
            <a:ext cx="3086023"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Turn visual evidence into repair priorities.</a:t>
            </a:r>
            <a:endParaRPr lang="en-US" sz="1600" dirty="0"/>
          </a:p>
        </p:txBody>
      </p:sp>
      <p:sp>
        <p:nvSpPr>
          <p:cNvPr id="7" name="Text 5"/>
          <p:cNvSpPr/>
          <p:nvPr/>
        </p:nvSpPr>
        <p:spPr>
          <a:xfrm>
            <a:off x="844529" y="2939911"/>
            <a:ext cx="3320967"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Proposed</a:t>
            </a:r>
            <a:endParaRPr lang="en-US" sz="1150" dirty="0"/>
          </a:p>
        </p:txBody>
      </p:sp>
      <p:sp>
        <p:nvSpPr>
          <p:cNvPr id="8" name="Shape 6"/>
          <p:cNvSpPr/>
          <p:nvPr/>
        </p:nvSpPr>
        <p:spPr>
          <a:xfrm>
            <a:off x="4317892" y="1543348"/>
            <a:ext cx="3555911" cy="2276277"/>
          </a:xfrm>
          <a:prstGeom prst="roundRect">
            <a:avLst>
              <a:gd name="adj" fmla="val 5356"/>
            </a:avLst>
          </a:prstGeom>
          <a:solidFill>
            <a:srgbClr val="152060"/>
          </a:solidFill>
          <a:ln w="6350">
            <a:solidFill>
              <a:srgbClr val="2B3A80"/>
            </a:solidFill>
            <a:prstDash val="solid"/>
          </a:ln>
        </p:spPr>
      </p:sp>
      <p:sp>
        <p:nvSpPr>
          <p:cNvPr id="9" name="Text 7"/>
          <p:cNvSpPr/>
          <p:nvPr/>
        </p:nvSpPr>
        <p:spPr>
          <a:xfrm>
            <a:off x="4552836" y="1778298"/>
            <a:ext cx="3086023"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Explainable risk</a:t>
            </a:r>
            <a:endParaRPr lang="en-US" sz="1800" dirty="0"/>
          </a:p>
        </p:txBody>
      </p:sp>
      <p:sp>
        <p:nvSpPr>
          <p:cNvPr id="10" name="Text 8"/>
          <p:cNvSpPr/>
          <p:nvPr/>
        </p:nvSpPr>
        <p:spPr>
          <a:xfrm>
            <a:off x="4552836" y="2277368"/>
            <a:ext cx="3086023"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Use severity, road importance and available context.</a:t>
            </a:r>
            <a:endParaRPr lang="en-US" sz="1600" dirty="0"/>
          </a:p>
        </p:txBody>
      </p:sp>
      <p:sp>
        <p:nvSpPr>
          <p:cNvPr id="11" name="Text 9"/>
          <p:cNvSpPr/>
          <p:nvPr/>
        </p:nvSpPr>
        <p:spPr>
          <a:xfrm>
            <a:off x="4552836" y="2939911"/>
            <a:ext cx="3320967"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Proposed</a:t>
            </a:r>
            <a:endParaRPr lang="en-US" sz="1150" dirty="0"/>
          </a:p>
        </p:txBody>
      </p:sp>
      <p:sp>
        <p:nvSpPr>
          <p:cNvPr id="12" name="Shape 10"/>
          <p:cNvSpPr/>
          <p:nvPr/>
        </p:nvSpPr>
        <p:spPr>
          <a:xfrm>
            <a:off x="8026199" y="1543348"/>
            <a:ext cx="3555911" cy="2276277"/>
          </a:xfrm>
          <a:prstGeom prst="roundRect">
            <a:avLst>
              <a:gd name="adj" fmla="val 5356"/>
            </a:avLst>
          </a:prstGeom>
          <a:solidFill>
            <a:srgbClr val="152060"/>
          </a:solidFill>
          <a:ln w="6350">
            <a:solidFill>
              <a:srgbClr val="2B3A80"/>
            </a:solidFill>
            <a:prstDash val="solid"/>
          </a:ln>
        </p:spPr>
      </p:sp>
      <p:sp>
        <p:nvSpPr>
          <p:cNvPr id="13" name="Text 11"/>
          <p:cNvSpPr/>
          <p:nvPr/>
        </p:nvSpPr>
        <p:spPr>
          <a:xfrm>
            <a:off x="8261143" y="1778298"/>
            <a:ext cx="3086023"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Budget-aware choices</a:t>
            </a:r>
            <a:endParaRPr lang="en-US" sz="1800" dirty="0"/>
          </a:p>
        </p:txBody>
      </p:sp>
      <p:sp>
        <p:nvSpPr>
          <p:cNvPr id="14" name="Text 12"/>
          <p:cNvSpPr/>
          <p:nvPr/>
        </p:nvSpPr>
        <p:spPr>
          <a:xfrm>
            <a:off x="8261143" y="2277368"/>
            <a:ext cx="3086023"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Identify which repairs fit a fixed budget.</a:t>
            </a:r>
            <a:endParaRPr lang="en-US" sz="1600" dirty="0"/>
          </a:p>
        </p:txBody>
      </p:sp>
      <p:sp>
        <p:nvSpPr>
          <p:cNvPr id="15" name="Text 13"/>
          <p:cNvSpPr/>
          <p:nvPr/>
        </p:nvSpPr>
        <p:spPr>
          <a:xfrm>
            <a:off x="8261143" y="2939911"/>
            <a:ext cx="3320967"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Proposed</a:t>
            </a:r>
            <a:endParaRPr lang="en-US" sz="1150" dirty="0"/>
          </a:p>
        </p:txBody>
      </p:sp>
      <p:sp>
        <p:nvSpPr>
          <p:cNvPr id="16" name="Shape 14"/>
          <p:cNvSpPr/>
          <p:nvPr/>
        </p:nvSpPr>
        <p:spPr>
          <a:xfrm>
            <a:off x="609585" y="3972024"/>
            <a:ext cx="5410065" cy="2276376"/>
          </a:xfrm>
          <a:prstGeom prst="roundRect">
            <a:avLst>
              <a:gd name="adj" fmla="val 5356"/>
            </a:avLst>
          </a:prstGeom>
          <a:solidFill>
            <a:srgbClr val="152060"/>
          </a:solidFill>
          <a:ln w="6350">
            <a:solidFill>
              <a:srgbClr val="2B3A80"/>
            </a:solidFill>
            <a:prstDash val="solid"/>
          </a:ln>
        </p:spPr>
      </p:sp>
      <p:sp>
        <p:nvSpPr>
          <p:cNvPr id="17" name="Text 15"/>
          <p:cNvSpPr/>
          <p:nvPr/>
        </p:nvSpPr>
        <p:spPr>
          <a:xfrm>
            <a:off x="844529" y="4206974"/>
            <a:ext cx="4940176"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Duplicate removal</a:t>
            </a:r>
            <a:endParaRPr lang="en-US" sz="1800" dirty="0"/>
          </a:p>
        </p:txBody>
      </p:sp>
      <p:sp>
        <p:nvSpPr>
          <p:cNvPr id="18" name="Text 16"/>
          <p:cNvSpPr/>
          <p:nvPr/>
        </p:nvSpPr>
        <p:spPr>
          <a:xfrm>
            <a:off x="844529" y="4706045"/>
            <a:ext cx="4940176"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Merge repeated detections across frames and reports.</a:t>
            </a:r>
            <a:endParaRPr lang="en-US" sz="1600" dirty="0"/>
          </a:p>
        </p:txBody>
      </p:sp>
      <p:sp>
        <p:nvSpPr>
          <p:cNvPr id="19" name="Text 17"/>
          <p:cNvSpPr/>
          <p:nvPr/>
        </p:nvSpPr>
        <p:spPr>
          <a:xfrm>
            <a:off x="844529" y="5368588"/>
            <a:ext cx="517512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Still to be implemented</a:t>
            </a:r>
            <a:endParaRPr lang="en-US" sz="1150" dirty="0"/>
          </a:p>
        </p:txBody>
      </p:sp>
      <p:sp>
        <p:nvSpPr>
          <p:cNvPr id="20" name="Shape 18"/>
          <p:cNvSpPr/>
          <p:nvPr/>
        </p:nvSpPr>
        <p:spPr>
          <a:xfrm>
            <a:off x="6172046" y="3972024"/>
            <a:ext cx="5410065" cy="2276376"/>
          </a:xfrm>
          <a:prstGeom prst="roundRect">
            <a:avLst>
              <a:gd name="adj" fmla="val 5356"/>
            </a:avLst>
          </a:prstGeom>
          <a:solidFill>
            <a:srgbClr val="152060"/>
          </a:solidFill>
          <a:ln w="6350">
            <a:solidFill>
              <a:srgbClr val="2B3A80"/>
            </a:solidFill>
            <a:prstDash val="solid"/>
          </a:ln>
        </p:spPr>
      </p:sp>
      <p:sp>
        <p:nvSpPr>
          <p:cNvPr id="21" name="Text 19"/>
          <p:cNvSpPr/>
          <p:nvPr/>
        </p:nvSpPr>
        <p:spPr>
          <a:xfrm>
            <a:off x="6406990" y="4206974"/>
            <a:ext cx="4940176"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Repair verification</a:t>
            </a:r>
            <a:endParaRPr lang="en-US" sz="1800" dirty="0"/>
          </a:p>
        </p:txBody>
      </p:sp>
      <p:sp>
        <p:nvSpPr>
          <p:cNvPr id="22" name="Text 20"/>
          <p:cNvSpPr/>
          <p:nvPr/>
        </p:nvSpPr>
        <p:spPr>
          <a:xfrm>
            <a:off x="6406990" y="4706045"/>
            <a:ext cx="4940176"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Compare before-and-after evidence, confirmed by a person.</a:t>
            </a:r>
            <a:endParaRPr lang="en-US" sz="1600" dirty="0"/>
          </a:p>
        </p:txBody>
      </p:sp>
      <p:sp>
        <p:nvSpPr>
          <p:cNvPr id="23" name="Text 21"/>
          <p:cNvSpPr/>
          <p:nvPr/>
        </p:nvSpPr>
        <p:spPr>
          <a:xfrm>
            <a:off x="6406990" y="5368588"/>
            <a:ext cx="517512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Still to be implemented</a:t>
            </a:r>
            <a:endParaRPr lang="en-US" sz="1150" dirty="0"/>
          </a:p>
        </p:txBody>
      </p:sp>
      <p:sp>
        <p:nvSpPr>
          <p:cNvPr id="26" name="Rectangle 25"/>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431800"/>
            <a:ext cx="11074123" cy="855861"/>
          </a:xfrm>
          <a:prstGeom prst="rect">
            <a:avLst/>
          </a:prstGeom>
          <a:noFill/>
          <a:ln/>
        </p:spPr>
        <p:txBody>
          <a:bodyPr wrap="square" lIns="0" tIns="0" rIns="0" bIns="0" rtlCol="0" anchor="t"/>
          <a:lstStyle/>
          <a:p>
            <a:pPr marL="0" indent="0" algn="l">
              <a:lnSpc>
                <a:spcPct val="100000"/>
              </a:lnSpc>
              <a:spcAft>
                <a:spcPts val="1350"/>
              </a:spcAft>
              <a:buNone/>
            </a:pPr>
            <a:r>
              <a:rPr lang="en-US" sz="1050" kern="100" spc="105" dirty="0">
                <a:solidFill>
                  <a:srgbClr val="7FA6F2"/>
                </a:solidFill>
                <a:latin typeface="Onest SemiBold" pitchFamily="34" charset="0"/>
                <a:ea typeface="Onest SemiBold" pitchFamily="34" charset="-122"/>
                <a:cs typeface="Onest SemiBold" pitchFamily="34" charset="-120"/>
              </a:rPr>
              <a:t>PROPOSED ARCHITECTURE</a:t>
            </a:r>
            <a:endParaRPr lang="en-US" sz="1050" dirty="0"/>
          </a:p>
          <a:p>
            <a:pPr marL="0" indent="0" algn="l">
              <a:lnSpc>
                <a:spcPct val="100000"/>
              </a:lnSpc>
              <a:buNone/>
            </a:pPr>
            <a:r>
              <a:rPr lang="en-US" sz="3400" kern="100" spc="105" dirty="0">
                <a:solidFill>
                  <a:srgbClr val="E6EEFF"/>
                </a:solidFill>
                <a:latin typeface="Onest SemiBold" pitchFamily="34" charset="0"/>
                <a:ea typeface="Onest SemiBold" pitchFamily="34" charset="-122"/>
                <a:cs typeface="Onest SemiBold" pitchFamily="34" charset="-120"/>
              </a:rPr>
              <a:t>PLAN OF ACTION</a:t>
            </a:r>
            <a:endParaRPr lang="en-US" sz="1050" dirty="0"/>
          </a:p>
        </p:txBody>
      </p:sp>
      <p:sp>
        <p:nvSpPr>
          <p:cNvPr id="3" name="Text 1"/>
          <p:cNvSpPr/>
          <p:nvPr/>
        </p:nvSpPr>
        <p:spPr>
          <a:xfrm>
            <a:off x="558786" y="1465461"/>
            <a:ext cx="821610"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01</a:t>
            </a:r>
            <a:endParaRPr lang="en-US" sz="1600" dirty="0"/>
          </a:p>
        </p:txBody>
      </p:sp>
      <p:sp>
        <p:nvSpPr>
          <p:cNvPr id="4" name="Shape 2"/>
          <p:cNvSpPr/>
          <p:nvPr/>
        </p:nvSpPr>
        <p:spPr>
          <a:xfrm>
            <a:off x="558786" y="1749921"/>
            <a:ext cx="2616135" cy="19050"/>
          </a:xfrm>
          <a:prstGeom prst="rect">
            <a:avLst/>
          </a:prstGeom>
          <a:solidFill>
            <a:srgbClr val="7FA6F2"/>
          </a:solidFill>
          <a:ln/>
        </p:spPr>
      </p:sp>
      <p:sp>
        <p:nvSpPr>
          <p:cNvPr id="5" name="Text 3"/>
          <p:cNvSpPr/>
          <p:nvPr/>
        </p:nvSpPr>
        <p:spPr>
          <a:xfrm>
            <a:off x="558786" y="1890812"/>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Video Upload</a:t>
            </a:r>
            <a:endParaRPr lang="en-US" sz="1800" dirty="0"/>
          </a:p>
        </p:txBody>
      </p:sp>
      <p:sp>
        <p:nvSpPr>
          <p:cNvPr id="6" name="Text 4"/>
          <p:cNvSpPr/>
          <p:nvPr/>
        </p:nvSpPr>
        <p:spPr>
          <a:xfrm>
            <a:off x="558786" y="2389882"/>
            <a:ext cx="2616135"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React + FastAPI accept video and location inputs.</a:t>
            </a:r>
            <a:endParaRPr lang="en-US" sz="1350" dirty="0"/>
          </a:p>
        </p:txBody>
      </p:sp>
      <p:sp>
        <p:nvSpPr>
          <p:cNvPr id="7" name="Text 5"/>
          <p:cNvSpPr/>
          <p:nvPr/>
        </p:nvSpPr>
        <p:spPr>
          <a:xfrm>
            <a:off x="3479713" y="1465461"/>
            <a:ext cx="855343"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02</a:t>
            </a:r>
            <a:endParaRPr lang="en-US" sz="1600" dirty="0"/>
          </a:p>
        </p:txBody>
      </p:sp>
      <p:sp>
        <p:nvSpPr>
          <p:cNvPr id="8" name="Shape 6"/>
          <p:cNvSpPr/>
          <p:nvPr/>
        </p:nvSpPr>
        <p:spPr>
          <a:xfrm>
            <a:off x="3479713" y="1749921"/>
            <a:ext cx="2463738" cy="19050"/>
          </a:xfrm>
          <a:prstGeom prst="rect">
            <a:avLst/>
          </a:prstGeom>
          <a:solidFill>
            <a:srgbClr val="7FA6F2"/>
          </a:solidFill>
          <a:ln/>
        </p:spPr>
      </p:sp>
      <p:sp>
        <p:nvSpPr>
          <p:cNvPr id="9" name="Text 7"/>
          <p:cNvSpPr/>
          <p:nvPr/>
        </p:nvSpPr>
        <p:spPr>
          <a:xfrm>
            <a:off x="3479713" y="1890812"/>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Frame Extraction</a:t>
            </a:r>
            <a:endParaRPr lang="en-US" sz="1800" dirty="0"/>
          </a:p>
        </p:txBody>
      </p:sp>
      <p:sp>
        <p:nvSpPr>
          <p:cNvPr id="10" name="Text 8"/>
          <p:cNvSpPr/>
          <p:nvPr/>
        </p:nvSpPr>
        <p:spPr>
          <a:xfrm>
            <a:off x="3479713" y="2389882"/>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OpenCV samples frames for analysis.</a:t>
            </a:r>
            <a:endParaRPr lang="en-US" sz="1350" dirty="0"/>
          </a:p>
        </p:txBody>
      </p:sp>
      <p:sp>
        <p:nvSpPr>
          <p:cNvPr id="11" name="Text 9"/>
          <p:cNvSpPr/>
          <p:nvPr/>
        </p:nvSpPr>
        <p:spPr>
          <a:xfrm>
            <a:off x="6248244" y="1465461"/>
            <a:ext cx="867646"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03</a:t>
            </a:r>
            <a:endParaRPr lang="en-US" sz="1600" dirty="0"/>
          </a:p>
        </p:txBody>
      </p:sp>
      <p:sp>
        <p:nvSpPr>
          <p:cNvPr id="12" name="Shape 10"/>
          <p:cNvSpPr/>
          <p:nvPr/>
        </p:nvSpPr>
        <p:spPr>
          <a:xfrm>
            <a:off x="6248244" y="1749921"/>
            <a:ext cx="2463738" cy="19050"/>
          </a:xfrm>
          <a:prstGeom prst="rect">
            <a:avLst/>
          </a:prstGeom>
          <a:solidFill>
            <a:srgbClr val="7FA6F2"/>
          </a:solidFill>
          <a:ln/>
        </p:spPr>
      </p:sp>
      <p:sp>
        <p:nvSpPr>
          <p:cNvPr id="13" name="Text 11"/>
          <p:cNvSpPr/>
          <p:nvPr/>
        </p:nvSpPr>
        <p:spPr>
          <a:xfrm>
            <a:off x="6248244" y="1890812"/>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AI Detection</a:t>
            </a:r>
            <a:endParaRPr lang="en-US" sz="1800" dirty="0"/>
          </a:p>
        </p:txBody>
      </p:sp>
      <p:sp>
        <p:nvSpPr>
          <p:cNvPr id="14" name="Text 12"/>
          <p:cNvSpPr/>
          <p:nvPr/>
        </p:nvSpPr>
        <p:spPr>
          <a:xfrm>
            <a:off x="6248244" y="2389882"/>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A YOLO-based detector locates damage.</a:t>
            </a:r>
            <a:endParaRPr lang="en-US" sz="1350" dirty="0"/>
          </a:p>
        </p:txBody>
      </p:sp>
      <p:sp>
        <p:nvSpPr>
          <p:cNvPr id="15" name="Text 13"/>
          <p:cNvSpPr/>
          <p:nvPr/>
        </p:nvSpPr>
        <p:spPr>
          <a:xfrm>
            <a:off x="9016774" y="1465461"/>
            <a:ext cx="873202"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04</a:t>
            </a:r>
            <a:endParaRPr lang="en-US" sz="1600" dirty="0"/>
          </a:p>
        </p:txBody>
      </p:sp>
      <p:sp>
        <p:nvSpPr>
          <p:cNvPr id="16" name="Shape 14"/>
          <p:cNvSpPr/>
          <p:nvPr/>
        </p:nvSpPr>
        <p:spPr>
          <a:xfrm>
            <a:off x="9016774" y="1749921"/>
            <a:ext cx="2616135" cy="19050"/>
          </a:xfrm>
          <a:prstGeom prst="rect">
            <a:avLst/>
          </a:prstGeom>
          <a:solidFill>
            <a:srgbClr val="7FA6F2"/>
          </a:solidFill>
          <a:ln/>
        </p:spPr>
      </p:sp>
      <p:sp>
        <p:nvSpPr>
          <p:cNvPr id="17" name="Text 15"/>
          <p:cNvSpPr/>
          <p:nvPr/>
        </p:nvSpPr>
        <p:spPr>
          <a:xfrm>
            <a:off x="9016774" y="1890812"/>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GPS Association</a:t>
            </a:r>
            <a:endParaRPr lang="en-US" sz="1800" dirty="0"/>
          </a:p>
        </p:txBody>
      </p:sp>
      <p:sp>
        <p:nvSpPr>
          <p:cNvPr id="18" name="Text 16"/>
          <p:cNvSpPr/>
          <p:nvPr/>
        </p:nvSpPr>
        <p:spPr>
          <a:xfrm>
            <a:off x="9016774" y="2389882"/>
            <a:ext cx="2616135"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Python aligns detections with location data.</a:t>
            </a:r>
            <a:endParaRPr lang="en-US" sz="1350" dirty="0"/>
          </a:p>
        </p:txBody>
      </p:sp>
      <p:sp>
        <p:nvSpPr>
          <p:cNvPr id="19" name="Text 17"/>
          <p:cNvSpPr/>
          <p:nvPr/>
        </p:nvSpPr>
        <p:spPr>
          <a:xfrm>
            <a:off x="558786" y="4098230"/>
            <a:ext cx="869135"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05</a:t>
            </a:r>
            <a:endParaRPr lang="en-US" sz="1600" dirty="0"/>
          </a:p>
        </p:txBody>
      </p:sp>
      <p:sp>
        <p:nvSpPr>
          <p:cNvPr id="20" name="Shape 18"/>
          <p:cNvSpPr/>
          <p:nvPr/>
        </p:nvSpPr>
        <p:spPr>
          <a:xfrm>
            <a:off x="558786" y="4382691"/>
            <a:ext cx="2616135" cy="19050"/>
          </a:xfrm>
          <a:prstGeom prst="rect">
            <a:avLst/>
          </a:prstGeom>
          <a:solidFill>
            <a:srgbClr val="7FA6F2"/>
          </a:solidFill>
          <a:ln/>
        </p:spPr>
      </p:sp>
      <p:sp>
        <p:nvSpPr>
          <p:cNvPr id="21" name="Text 19"/>
          <p:cNvSpPr/>
          <p:nvPr/>
        </p:nvSpPr>
        <p:spPr>
          <a:xfrm>
            <a:off x="558786" y="4523581"/>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Database</a:t>
            </a:r>
            <a:endParaRPr lang="en-US" sz="1800" dirty="0"/>
          </a:p>
        </p:txBody>
      </p:sp>
      <p:sp>
        <p:nvSpPr>
          <p:cNvPr id="22" name="Text 20"/>
          <p:cNvSpPr/>
          <p:nvPr/>
        </p:nvSpPr>
        <p:spPr>
          <a:xfrm>
            <a:off x="558786" y="5022652"/>
            <a:ext cx="2616135"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PostgreSQL or Supabase stores incidents and evidence.</a:t>
            </a:r>
            <a:endParaRPr lang="en-US" sz="1350" dirty="0"/>
          </a:p>
        </p:txBody>
      </p:sp>
      <p:sp>
        <p:nvSpPr>
          <p:cNvPr id="23" name="Text 21"/>
          <p:cNvSpPr/>
          <p:nvPr/>
        </p:nvSpPr>
        <p:spPr>
          <a:xfrm>
            <a:off x="3479713" y="4098230"/>
            <a:ext cx="870722"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06</a:t>
            </a:r>
            <a:endParaRPr lang="en-US" sz="1600" dirty="0"/>
          </a:p>
        </p:txBody>
      </p:sp>
      <p:sp>
        <p:nvSpPr>
          <p:cNvPr id="24" name="Shape 22"/>
          <p:cNvSpPr/>
          <p:nvPr/>
        </p:nvSpPr>
        <p:spPr>
          <a:xfrm>
            <a:off x="3479713" y="4382691"/>
            <a:ext cx="2463738" cy="19050"/>
          </a:xfrm>
          <a:prstGeom prst="rect">
            <a:avLst/>
          </a:prstGeom>
          <a:solidFill>
            <a:srgbClr val="7FA6F2"/>
          </a:solidFill>
          <a:ln/>
        </p:spPr>
      </p:sp>
      <p:sp>
        <p:nvSpPr>
          <p:cNvPr id="25" name="Text 23"/>
          <p:cNvSpPr/>
          <p:nvPr/>
        </p:nvSpPr>
        <p:spPr>
          <a:xfrm>
            <a:off x="3479713" y="4523581"/>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Risk Scoring</a:t>
            </a:r>
            <a:endParaRPr lang="en-US" sz="1800" dirty="0"/>
          </a:p>
        </p:txBody>
      </p:sp>
      <p:sp>
        <p:nvSpPr>
          <p:cNvPr id="26" name="Text 24"/>
          <p:cNvSpPr/>
          <p:nvPr/>
        </p:nvSpPr>
        <p:spPr>
          <a:xfrm>
            <a:off x="3479713" y="5022652"/>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Python combines explainable risk factors.</a:t>
            </a:r>
            <a:endParaRPr lang="en-US" sz="1350" dirty="0"/>
          </a:p>
        </p:txBody>
      </p:sp>
      <p:sp>
        <p:nvSpPr>
          <p:cNvPr id="27" name="Text 25"/>
          <p:cNvSpPr/>
          <p:nvPr/>
        </p:nvSpPr>
        <p:spPr>
          <a:xfrm>
            <a:off x="6248244" y="4098230"/>
            <a:ext cx="847605"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07</a:t>
            </a:r>
            <a:endParaRPr lang="en-US" sz="1600" dirty="0"/>
          </a:p>
        </p:txBody>
      </p:sp>
      <p:sp>
        <p:nvSpPr>
          <p:cNvPr id="28" name="Shape 26"/>
          <p:cNvSpPr/>
          <p:nvPr/>
        </p:nvSpPr>
        <p:spPr>
          <a:xfrm>
            <a:off x="6248244" y="4382691"/>
            <a:ext cx="2463738" cy="19050"/>
          </a:xfrm>
          <a:prstGeom prst="rect">
            <a:avLst/>
          </a:prstGeom>
          <a:solidFill>
            <a:srgbClr val="7FA6F2"/>
          </a:solidFill>
          <a:ln/>
        </p:spPr>
      </p:sp>
      <p:sp>
        <p:nvSpPr>
          <p:cNvPr id="29" name="Text 27"/>
          <p:cNvSpPr/>
          <p:nvPr/>
        </p:nvSpPr>
        <p:spPr>
          <a:xfrm>
            <a:off x="6248244" y="4523581"/>
            <a:ext cx="2463738"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Budget Optimization</a:t>
            </a:r>
            <a:endParaRPr lang="en-US" sz="1800" dirty="0"/>
          </a:p>
        </p:txBody>
      </p:sp>
      <p:sp>
        <p:nvSpPr>
          <p:cNvPr id="30" name="Text 28"/>
          <p:cNvSpPr/>
          <p:nvPr/>
        </p:nvSpPr>
        <p:spPr>
          <a:xfrm>
            <a:off x="6248244" y="5022652"/>
            <a:ext cx="2463738" cy="473075"/>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Google OR-Tools selects a feasible repair set.</a:t>
            </a:r>
            <a:endParaRPr lang="en-US" sz="1350" dirty="0"/>
          </a:p>
        </p:txBody>
      </p:sp>
      <p:sp>
        <p:nvSpPr>
          <p:cNvPr id="31" name="Text 29"/>
          <p:cNvSpPr/>
          <p:nvPr/>
        </p:nvSpPr>
        <p:spPr>
          <a:xfrm>
            <a:off x="9016774" y="4098230"/>
            <a:ext cx="870920" cy="203200"/>
          </a:xfrm>
          <a:prstGeom prst="rect">
            <a:avLst/>
          </a:prstGeom>
          <a:noFill/>
          <a:ln/>
        </p:spPr>
        <p:txBody>
          <a:bodyPr wrap="none" lIns="0" tIns="0" rIns="0" bIns="0" rtlCol="0" anchor="t"/>
          <a:lstStyle/>
          <a:p>
            <a:pPr marL="0" indent="0" algn="l">
              <a:lnSpc>
                <a:spcPct val="83000"/>
              </a:lnSpc>
              <a:buNone/>
            </a:pPr>
            <a:r>
              <a:rPr lang="en-US" sz="1600" dirty="0">
                <a:solidFill>
                  <a:srgbClr val="7FA6F2"/>
                </a:solidFill>
                <a:latin typeface="Onest SemiBold" pitchFamily="34" charset="0"/>
                <a:ea typeface="Onest SemiBold" pitchFamily="34" charset="-122"/>
                <a:cs typeface="Onest SemiBold" pitchFamily="34" charset="-120"/>
              </a:rPr>
              <a:t>08</a:t>
            </a:r>
            <a:endParaRPr lang="en-US" sz="1600" dirty="0"/>
          </a:p>
        </p:txBody>
      </p:sp>
      <p:sp>
        <p:nvSpPr>
          <p:cNvPr id="32" name="Shape 30"/>
          <p:cNvSpPr/>
          <p:nvPr/>
        </p:nvSpPr>
        <p:spPr>
          <a:xfrm>
            <a:off x="9016774" y="4382691"/>
            <a:ext cx="2616135" cy="19050"/>
          </a:xfrm>
          <a:prstGeom prst="rect">
            <a:avLst/>
          </a:prstGeom>
          <a:solidFill>
            <a:srgbClr val="7FA6F2"/>
          </a:solidFill>
          <a:ln/>
        </p:spPr>
      </p:sp>
      <p:sp>
        <p:nvSpPr>
          <p:cNvPr id="33" name="Text 31"/>
          <p:cNvSpPr/>
          <p:nvPr/>
        </p:nvSpPr>
        <p:spPr>
          <a:xfrm>
            <a:off x="9016774" y="4523581"/>
            <a:ext cx="2616135"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Interactive Dashboard</a:t>
            </a:r>
            <a:endParaRPr lang="en-US" sz="1800" dirty="0"/>
          </a:p>
        </p:txBody>
      </p:sp>
      <p:sp>
        <p:nvSpPr>
          <p:cNvPr id="34" name="Text 32"/>
          <p:cNvSpPr/>
          <p:nvPr/>
        </p:nvSpPr>
        <p:spPr>
          <a:xfrm>
            <a:off x="9016774" y="5022652"/>
            <a:ext cx="2616135" cy="709613"/>
          </a:xfrm>
          <a:prstGeom prst="rect">
            <a:avLst/>
          </a:prstGeom>
          <a:noFill/>
          <a:ln/>
        </p:spPr>
        <p:txBody>
          <a:bodyPr wrap="square" lIns="0" tIns="0" rIns="0" bIns="0" rtlCol="0" anchor="t">
            <a:normAutofit lnSpcReduction="10000"/>
          </a:bodyPr>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React, Leaflet and OpenStreetMap present decisions.</a:t>
            </a:r>
            <a:endParaRPr lang="en-US" sz="1350" dirty="0"/>
          </a:p>
        </p:txBody>
      </p:sp>
      <p:sp>
        <p:nvSpPr>
          <p:cNvPr id="37" name="Rectangle 36"/>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384175"/>
            <a:ext cx="1163290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SMART REPAIR BUDGET OPTIMIZER · HYPOTHETICAL EXAMPLE</a:t>
            </a:r>
            <a:endParaRPr lang="en-US" sz="1050" dirty="0"/>
          </a:p>
        </p:txBody>
      </p:sp>
      <p:sp>
        <p:nvSpPr>
          <p:cNvPr id="3" name="Text 1"/>
          <p:cNvSpPr/>
          <p:nvPr/>
        </p:nvSpPr>
        <p:spPr>
          <a:xfrm>
            <a:off x="558786" y="664076"/>
            <a:ext cx="11074123"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The best repairs </a:t>
            </a:r>
            <a:r>
              <a:rPr lang="en-US" sz="3400" b="1" kern="100" spc="-85" dirty="0">
                <a:solidFill>
                  <a:srgbClr val="9BD33A"/>
                </a:solidFill>
                <a:latin typeface="Familjen Grotesk Bold" pitchFamily="34" charset="0"/>
                <a:ea typeface="Familjen Grotesk Bold" pitchFamily="34" charset="-122"/>
                <a:cs typeface="Familjen Grotesk Bold" pitchFamily="34" charset="-120"/>
              </a:rPr>
              <a:t>within the budget</a:t>
            </a:r>
            <a:endParaRPr lang="en-US" sz="3400" dirty="0"/>
          </a:p>
        </p:txBody>
      </p:sp>
      <p:sp>
        <p:nvSpPr>
          <p:cNvPr id="4" name="Text 2"/>
          <p:cNvSpPr/>
          <p:nvPr/>
        </p:nvSpPr>
        <p:spPr>
          <a:xfrm>
            <a:off x="558786" y="1314748"/>
            <a:ext cx="11074123"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Maximize estimated benefit using severity, cost, road importance and exposure, estimated safety benefit and the available budget.</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8786" y="2281932"/>
          <a:ext cx="4185835" cy="2354401"/>
        </p:xfrm>
        <a:graphic>
          <a:graphicData uri="http://schemas.openxmlformats.org/drawingml/2006/table">
            <a:tbl>
              <a:tblPr/>
              <a:tblGrid>
                <a:gridCol w="1423158"/>
                <a:gridCol w="1255681"/>
                <a:gridCol w="1506996"/>
              </a:tblGrid>
              <a:tr h="802064">
                <a:tc>
                  <a:txBody>
                    <a:bodyPr/>
                    <a:lstStyle/>
                    <a:p>
                      <a:pPr marL="0" indent="0" algn="l">
                        <a:buNone/>
                      </a:pPr>
                      <a:r>
                        <a:rPr lang="en-US" sz="1600" dirty="0">
                          <a:solidFill>
                            <a:srgbClr val="FFFFFF"/>
                          </a:solidFill>
                          <a:latin typeface="Onest" pitchFamily="34" charset="0"/>
                          <a:ea typeface="Onest" pitchFamily="34" charset="-122"/>
                          <a:cs typeface="Onest" pitchFamily="34" charset="-120"/>
                        </a:rPr>
                        <a:t>Segment</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080E33"/>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120"/>
                        </a:rPr>
                        <a:t>Cost units</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080E33"/>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FFFFFF"/>
                          </a:solidFill>
                          <a:latin typeface="Onest" pitchFamily="34" charset="0"/>
                          <a:ea typeface="Onest" pitchFamily="34" charset="-122"/>
                          <a:cs typeface="Onest" pitchFamily="34" charset="-120"/>
                        </a:rPr>
                        <a:t>Benefit points</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080E33"/>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r>
              <a:tr h="521679">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A</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4</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8</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r>
              <a:tr h="521679">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B</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3</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7</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2B3A80"/>
                      </a:solidFill>
                      <a:prstDash val="solid"/>
                      <a:round/>
                      <a:headEnd type="none" w="med" len="med"/>
                      <a:tailEnd type="none" w="med" len="med"/>
                    </a:lnB>
                  </a:tcPr>
                </a:tc>
              </a:tr>
              <a:tr h="508979">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C</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80E33"/>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2</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80E33"/>
                      </a:solidFill>
                      <a:prstDash val="solid"/>
                      <a:round/>
                      <a:headEnd type="none" w="med" len="med"/>
                      <a:tailEnd type="none" w="med" len="med"/>
                    </a:lnB>
                  </a:tcPr>
                </a:tc>
                <a:tc>
                  <a:txBody>
                    <a:bodyPr/>
                    <a:lstStyle/>
                    <a:p>
                      <a:pPr marL="0" indent="0" algn="l">
                        <a:buNone/>
                      </a:pPr>
                      <a:r>
                        <a:rPr lang="en-US" sz="1600" dirty="0">
                          <a:solidFill>
                            <a:srgbClr val="E9EEFF"/>
                          </a:solidFill>
                          <a:latin typeface="Onest" pitchFamily="34" charset="0"/>
                          <a:ea typeface="Onest" pitchFamily="34" charset="-122"/>
                          <a:cs typeface="Onest" pitchFamily="34" charset="-120"/>
                        </a:rPr>
                        <a:t>4</a:t>
                      </a:r>
                      <a:endParaRPr lang="en-US" sz="1600" dirty="0">
                        <a:latin typeface="Onest" charset="0"/>
                        <a:ea typeface="Onest" charset="0"/>
                        <a:cs typeface="Onest" charset="0"/>
                      </a:endParaRPr>
                    </a:p>
                  </a:txBody>
                  <a:tcPr marL="152396" marR="152396" marT="114297" marB="114297" anchor="ctr">
                    <a:lnL w="12700" cap="flat" cmpd="sng" algn="ctr">
                      <a:solidFill>
                        <a:srgbClr val="080E33"/>
                      </a:solidFill>
                      <a:prstDash val="solid"/>
                      <a:round/>
                      <a:headEnd type="none" w="med" len="med"/>
                      <a:tailEnd type="none" w="med" len="med"/>
                    </a:lnL>
                    <a:lnR w="12700" cap="flat" cmpd="sng" algn="ctr">
                      <a:solidFill>
                        <a:srgbClr val="080E33"/>
                      </a:solidFill>
                      <a:prstDash val="solid"/>
                      <a:round/>
                      <a:headEnd type="none" w="med" len="med"/>
                      <a:tailEnd type="none" w="med" len="med"/>
                    </a:lnR>
                    <a:lnT w="12700" cap="flat" cmpd="sng" algn="ctr">
                      <a:solidFill>
                        <a:srgbClr val="2B3A80"/>
                      </a:solidFill>
                      <a:prstDash val="solid"/>
                      <a:round/>
                      <a:headEnd type="none" w="med" len="med"/>
                      <a:tailEnd type="none" w="med" len="med"/>
                    </a:lnT>
                    <a:lnB w="12700" cap="flat" cmpd="sng" algn="ctr">
                      <a:solidFill>
                        <a:srgbClr val="080E33"/>
                      </a:solidFill>
                      <a:prstDash val="solid"/>
                      <a:round/>
                      <a:headEnd type="none" w="med" len="med"/>
                      <a:tailEnd type="none" w="med" len="med"/>
                    </a:lnB>
                  </a:tcPr>
                </a:tc>
              </a:tr>
            </a:tbl>
          </a:graphicData>
        </a:graphic>
      </p:graphicFrame>
      <p:sp>
        <p:nvSpPr>
          <p:cNvPr id="6" name="Text 3"/>
          <p:cNvSpPr/>
          <p:nvPr/>
        </p:nvSpPr>
        <p:spPr>
          <a:xfrm>
            <a:off x="558786" y="4750852"/>
            <a:ext cx="4185835" cy="379611"/>
          </a:xfrm>
          <a:prstGeom prst="rect">
            <a:avLst/>
          </a:prstGeom>
          <a:noFill/>
          <a:ln/>
        </p:spPr>
        <p:txBody>
          <a:bodyPr wrap="square" lIns="0" tIns="0" rIns="0" bIns="0" rtlCol="0" anchor="t">
            <a:normAutofit/>
          </a:bodyPr>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120"/>
              </a:rPr>
              <a:t>All numbers are hypothetical. Benefit points are illustrative, not measured safety outcomes.</a:t>
            </a:r>
            <a:endParaRPr lang="en-US" sz="1150" dirty="0"/>
          </a:p>
        </p:txBody>
      </p:sp>
      <p:sp>
        <p:nvSpPr>
          <p:cNvPr id="7" name="Shape 4"/>
          <p:cNvSpPr/>
          <p:nvPr/>
        </p:nvSpPr>
        <p:spPr>
          <a:xfrm>
            <a:off x="5049314" y="2053332"/>
            <a:ext cx="3139500" cy="3305572"/>
          </a:xfrm>
          <a:prstGeom prst="roundRect">
            <a:avLst>
              <a:gd name="adj" fmla="val 3883"/>
            </a:avLst>
          </a:prstGeom>
          <a:solidFill>
            <a:srgbClr val="152060"/>
          </a:solidFill>
          <a:ln w="6350">
            <a:solidFill>
              <a:srgbClr val="2B3A80"/>
            </a:solidFill>
            <a:prstDash val="solid"/>
          </a:ln>
        </p:spPr>
      </p:sp>
      <p:sp>
        <p:nvSpPr>
          <p:cNvPr id="5" name="Text 5"/>
          <p:cNvSpPr/>
          <p:nvPr/>
        </p:nvSpPr>
        <p:spPr>
          <a:xfrm>
            <a:off x="5284258" y="2291457"/>
            <a:ext cx="2904556"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E9EEFF"/>
                </a:solidFill>
                <a:latin typeface="Onest SemiBold" pitchFamily="34" charset="0"/>
                <a:ea typeface="Onest SemiBold" pitchFamily="34" charset="-122"/>
                <a:cs typeface="Onest SemiBold" pitchFamily="34" charset="-120"/>
              </a:rPr>
              <a:t>SMALLER BUDGET</a:t>
            </a:r>
            <a:endParaRPr lang="en-US" sz="1050" dirty="0"/>
          </a:p>
        </p:txBody>
      </p:sp>
      <p:sp>
        <p:nvSpPr>
          <p:cNvPr id="9" name="Text 6"/>
          <p:cNvSpPr/>
          <p:nvPr/>
        </p:nvSpPr>
        <p:spPr>
          <a:xfrm>
            <a:off x="5284258" y="2619205"/>
            <a:ext cx="2669612" cy="696912"/>
          </a:xfrm>
          <a:prstGeom prst="rect">
            <a:avLst/>
          </a:prstGeom>
          <a:noFill/>
          <a:ln/>
        </p:spPr>
        <p:txBody>
          <a:bodyPr wrap="none" lIns="0" tIns="0" rIns="0" bIns="0" rtlCol="0" anchor="t"/>
          <a:lstStyle/>
          <a:p>
            <a:pPr marL="0" indent="0" algn="l">
              <a:lnSpc>
                <a:spcPct val="82000"/>
              </a:lnSpc>
              <a:buNone/>
            </a:pPr>
            <a:r>
              <a:rPr lang="en-US" sz="5600" b="1" kern="100" spc="-168" dirty="0">
                <a:solidFill>
                  <a:srgbClr val="E9EEFF"/>
                </a:solidFill>
                <a:latin typeface="Familjen Grotesk Bold" pitchFamily="34" charset="0"/>
                <a:ea typeface="Familjen Grotesk Bold" pitchFamily="34" charset="-122"/>
                <a:cs typeface="Familjen Grotesk Bold" pitchFamily="34" charset="-120"/>
              </a:rPr>
              <a:t>5</a:t>
            </a:r>
            <a:endParaRPr lang="en-US" sz="5600" dirty="0"/>
          </a:p>
        </p:txBody>
      </p:sp>
      <p:sp>
        <p:nvSpPr>
          <p:cNvPr id="10" name="Text 7"/>
          <p:cNvSpPr/>
          <p:nvPr/>
        </p:nvSpPr>
        <p:spPr>
          <a:xfrm>
            <a:off x="5284258" y="3326110"/>
            <a:ext cx="2669612"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Repair B + C</a:t>
            </a:r>
            <a:endParaRPr lang="en-US" sz="1800" dirty="0"/>
          </a:p>
        </p:txBody>
      </p:sp>
      <p:sp>
        <p:nvSpPr>
          <p:cNvPr id="11" name="Text 8"/>
          <p:cNvSpPr/>
          <p:nvPr/>
        </p:nvSpPr>
        <p:spPr>
          <a:xfrm>
            <a:off x="5284258" y="3825180"/>
            <a:ext cx="2669612"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Cost 5 units</a:t>
            </a:r>
            <a:endParaRPr lang="en-US" sz="1600" dirty="0"/>
          </a:p>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Benefit 11 points</a:t>
            </a:r>
            <a:endParaRPr lang="en-US" sz="1600" dirty="0"/>
          </a:p>
        </p:txBody>
      </p:sp>
      <p:sp>
        <p:nvSpPr>
          <p:cNvPr id="12" name="Shape 9"/>
          <p:cNvSpPr/>
          <p:nvPr/>
        </p:nvSpPr>
        <p:spPr>
          <a:xfrm>
            <a:off x="8493508" y="2053332"/>
            <a:ext cx="3139401" cy="3305572"/>
          </a:xfrm>
          <a:prstGeom prst="roundRect">
            <a:avLst>
              <a:gd name="adj" fmla="val 3883"/>
            </a:avLst>
          </a:prstGeom>
          <a:solidFill>
            <a:srgbClr val="152060"/>
          </a:solidFill>
          <a:ln w="19050">
            <a:solidFill>
              <a:srgbClr val="9BD33A"/>
            </a:solidFill>
            <a:prstDash val="solid"/>
          </a:ln>
        </p:spPr>
      </p:sp>
      <p:sp>
        <p:nvSpPr>
          <p:cNvPr id="13" name="Text 10"/>
          <p:cNvSpPr/>
          <p:nvPr/>
        </p:nvSpPr>
        <p:spPr>
          <a:xfrm>
            <a:off x="8741152" y="2304157"/>
            <a:ext cx="2891757"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E9EEFF"/>
                </a:solidFill>
                <a:latin typeface="Onest SemiBold" pitchFamily="34" charset="0"/>
                <a:ea typeface="Onest SemiBold" pitchFamily="34" charset="-122"/>
                <a:cs typeface="Onest SemiBold" pitchFamily="34" charset="-120"/>
              </a:rPr>
              <a:t>LARGER BUDGET</a:t>
            </a:r>
            <a:endParaRPr lang="en-US" sz="1050" dirty="0"/>
          </a:p>
        </p:txBody>
      </p:sp>
      <p:sp>
        <p:nvSpPr>
          <p:cNvPr id="14" name="Text 11"/>
          <p:cNvSpPr/>
          <p:nvPr/>
        </p:nvSpPr>
        <p:spPr>
          <a:xfrm>
            <a:off x="8741152" y="2631905"/>
            <a:ext cx="2644114" cy="696912"/>
          </a:xfrm>
          <a:prstGeom prst="rect">
            <a:avLst/>
          </a:prstGeom>
          <a:noFill/>
          <a:ln/>
        </p:spPr>
        <p:txBody>
          <a:bodyPr wrap="none" lIns="0" tIns="0" rIns="0" bIns="0" rtlCol="0" anchor="t"/>
          <a:lstStyle/>
          <a:p>
            <a:pPr marL="0" indent="0" algn="l">
              <a:lnSpc>
                <a:spcPct val="82000"/>
              </a:lnSpc>
              <a:buNone/>
            </a:pPr>
            <a:r>
              <a:rPr lang="en-US" sz="5600" b="1" kern="100" spc="-168" dirty="0">
                <a:solidFill>
                  <a:srgbClr val="E9EEFF"/>
                </a:solidFill>
                <a:latin typeface="Familjen Grotesk Bold" pitchFamily="34" charset="0"/>
                <a:ea typeface="Familjen Grotesk Bold" pitchFamily="34" charset="-122"/>
                <a:cs typeface="Familjen Grotesk Bold" pitchFamily="34" charset="-120"/>
              </a:rPr>
              <a:t>9</a:t>
            </a:r>
            <a:endParaRPr lang="en-US" sz="5600" dirty="0"/>
          </a:p>
        </p:txBody>
      </p:sp>
      <p:sp>
        <p:nvSpPr>
          <p:cNvPr id="15" name="Text 12"/>
          <p:cNvSpPr/>
          <p:nvPr/>
        </p:nvSpPr>
        <p:spPr>
          <a:xfrm>
            <a:off x="8741152" y="3338810"/>
            <a:ext cx="2644114"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Repair A + B + C</a:t>
            </a:r>
            <a:endParaRPr lang="en-US" sz="1800" dirty="0"/>
          </a:p>
        </p:txBody>
      </p:sp>
      <p:sp>
        <p:nvSpPr>
          <p:cNvPr id="16" name="Text 13"/>
          <p:cNvSpPr/>
          <p:nvPr/>
        </p:nvSpPr>
        <p:spPr>
          <a:xfrm>
            <a:off x="8741152" y="3837880"/>
            <a:ext cx="2644114" cy="560784"/>
          </a:xfrm>
          <a:prstGeom prst="rect">
            <a:avLst/>
          </a:prstGeom>
          <a:noFill/>
          <a:ln/>
        </p:spPr>
        <p:txBody>
          <a:bodyPr wrap="square" lIns="0" tIns="0" rIns="0" bIns="0" rtlCol="0" anchor="t">
            <a:normAutofit lnSpcReduction="10000"/>
          </a:bodyPr>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Cost 9 units</a:t>
            </a:r>
            <a:endParaRPr lang="en-US" sz="1600" dirty="0"/>
          </a:p>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Benefit 19 points</a:t>
            </a:r>
            <a:endParaRPr lang="en-US" sz="1600" dirty="0"/>
          </a:p>
        </p:txBody>
      </p:sp>
      <p:sp>
        <p:nvSpPr>
          <p:cNvPr id="17" name="Text 14"/>
          <p:cNvSpPr/>
          <p:nvPr/>
        </p:nvSpPr>
        <p:spPr>
          <a:xfrm>
            <a:off x="558786" y="5536863"/>
            <a:ext cx="11632909" cy="272355"/>
          </a:xfrm>
          <a:prstGeom prst="rect">
            <a:avLst/>
          </a:prstGeom>
          <a:noFill/>
          <a:ln/>
        </p:spPr>
        <p:txBody>
          <a:bodyPr wrap="none" lIns="0" tIns="76198"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120"/>
              </a:rPr>
              <a:t>Proposed logic requires validation with real-world data. It does not guarantee accident reduction.</a:t>
            </a:r>
            <a:endParaRPr lang="en-US" sz="1150" dirty="0"/>
          </a:p>
        </p:txBody>
      </p:sp>
      <p:sp>
        <p:nvSpPr>
          <p:cNvPr id="20" name="Rectangle 19"/>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409575"/>
            <a:ext cx="1163290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PROPOSED DESIGN · NOT A WORKING PRODUCT</a:t>
            </a:r>
            <a:endParaRPr lang="en-US" sz="1050" dirty="0"/>
          </a:p>
        </p:txBody>
      </p:sp>
      <p:sp>
        <p:nvSpPr>
          <p:cNvPr id="3" name="Text 1"/>
          <p:cNvSpPr/>
          <p:nvPr/>
        </p:nvSpPr>
        <p:spPr>
          <a:xfrm>
            <a:off x="558786" y="689476"/>
            <a:ext cx="11074123"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A dashboard built for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decisions</a:t>
            </a:r>
            <a:endParaRPr lang="en-US" sz="3400" dirty="0"/>
          </a:p>
        </p:txBody>
      </p:sp>
      <p:pic>
        <p:nvPicPr>
          <p:cNvPr id="4" name="Image 0" descr="preencoded.png"/>
          <p:cNvPicPr>
            <a:picLocks noChangeAspect="1"/>
          </p:cNvPicPr>
          <p:nvPr/>
        </p:nvPicPr>
        <p:blipFill>
          <a:blip r:embed="rId3"/>
          <a:stretch>
            <a:fillRect/>
          </a:stretch>
        </p:blipFill>
        <p:spPr>
          <a:xfrm>
            <a:off x="558786" y="1263948"/>
            <a:ext cx="7563355" cy="4254401"/>
          </a:xfrm>
          <a:prstGeom prst="rect">
            <a:avLst/>
          </a:prstGeom>
        </p:spPr>
      </p:pic>
      <p:sp>
        <p:nvSpPr>
          <p:cNvPr id="5" name="Text 2"/>
          <p:cNvSpPr/>
          <p:nvPr/>
        </p:nvSpPr>
        <p:spPr>
          <a:xfrm>
            <a:off x="558786" y="5747107"/>
            <a:ext cx="11632909"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B4C2EC"/>
                </a:solidFill>
                <a:latin typeface="Onest" pitchFamily="34" charset="0"/>
                <a:ea typeface="Onest" pitchFamily="34" charset="-122"/>
                <a:cs typeface="Onest" pitchFamily="34" charset="-120"/>
              </a:rPr>
              <a:t>Review the evidence, adjust constraints and track each incident through verification.</a:t>
            </a:r>
            <a:endParaRPr lang="en-US" sz="1150" dirty="0"/>
          </a:p>
        </p:txBody>
      </p:sp>
      <p:sp>
        <p:nvSpPr>
          <p:cNvPr id="7" name="Rectangle 6"/>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434975"/>
            <a:ext cx="11632909"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INTENDED BENEFICIARIES · FUTURE EVALUATION</a:t>
            </a:r>
            <a:endParaRPr lang="en-US" sz="1050" dirty="0"/>
          </a:p>
        </p:txBody>
      </p:sp>
      <p:sp>
        <p:nvSpPr>
          <p:cNvPr id="3" name="Text 1"/>
          <p:cNvSpPr/>
          <p:nvPr/>
        </p:nvSpPr>
        <p:spPr>
          <a:xfrm>
            <a:off x="558786" y="714876"/>
            <a:ext cx="11074123"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Who benefits, and how we will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measure it</a:t>
            </a:r>
            <a:endParaRPr lang="en-US" sz="3400" dirty="0"/>
          </a:p>
        </p:txBody>
      </p:sp>
      <p:pic>
        <p:nvPicPr>
          <p:cNvPr id="4" name="Image 0" descr="preencoded.png"/>
          <p:cNvPicPr>
            <a:picLocks noChangeAspect="1"/>
          </p:cNvPicPr>
          <p:nvPr/>
        </p:nvPicPr>
        <p:blipFill>
          <a:blip r:embed="rId3"/>
          <a:stretch>
            <a:fillRect/>
          </a:stretch>
        </p:blipFill>
        <p:spPr>
          <a:xfrm>
            <a:off x="558786" y="1365544"/>
            <a:ext cx="406390" cy="406400"/>
          </a:xfrm>
          <a:prstGeom prst="rect">
            <a:avLst/>
          </a:prstGeom>
        </p:spPr>
      </p:pic>
      <p:sp>
        <p:nvSpPr>
          <p:cNvPr id="5" name="Text 2"/>
          <p:cNvSpPr/>
          <p:nvPr/>
        </p:nvSpPr>
        <p:spPr>
          <a:xfrm>
            <a:off x="1168371" y="1365548"/>
            <a:ext cx="4775081"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Authorities and maintenance teams</a:t>
            </a:r>
            <a:endParaRPr lang="en-US" sz="1800" dirty="0"/>
          </a:p>
        </p:txBody>
      </p:sp>
      <p:sp>
        <p:nvSpPr>
          <p:cNvPr id="6" name="Text 3"/>
          <p:cNvSpPr/>
          <p:nvPr/>
        </p:nvSpPr>
        <p:spPr>
          <a:xfrm>
            <a:off x="1168371" y="1864618"/>
            <a:ext cx="4775081"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Evidence to support repair planning.</a:t>
            </a:r>
            <a:endParaRPr lang="en-US" sz="1350" dirty="0"/>
          </a:p>
        </p:txBody>
      </p:sp>
      <p:pic>
        <p:nvPicPr>
          <p:cNvPr id="7" name="Image 1" descr="preencoded.png"/>
          <p:cNvPicPr>
            <a:picLocks noChangeAspect="1"/>
          </p:cNvPicPr>
          <p:nvPr/>
        </p:nvPicPr>
        <p:blipFill>
          <a:blip r:embed="rId4"/>
          <a:stretch>
            <a:fillRect/>
          </a:stretch>
        </p:blipFill>
        <p:spPr>
          <a:xfrm>
            <a:off x="558786" y="2668782"/>
            <a:ext cx="406390" cy="406400"/>
          </a:xfrm>
          <a:prstGeom prst="rect">
            <a:avLst/>
          </a:prstGeom>
        </p:spPr>
      </p:pic>
      <p:sp>
        <p:nvSpPr>
          <p:cNvPr id="8" name="Text 4"/>
          <p:cNvSpPr/>
          <p:nvPr/>
        </p:nvSpPr>
        <p:spPr>
          <a:xfrm>
            <a:off x="1168371" y="2668786"/>
            <a:ext cx="4775081"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Commuters and motorists</a:t>
            </a:r>
            <a:endParaRPr lang="en-US" sz="1800" dirty="0"/>
          </a:p>
        </p:txBody>
      </p:sp>
      <p:sp>
        <p:nvSpPr>
          <p:cNvPr id="9" name="Text 5"/>
          <p:cNvSpPr/>
          <p:nvPr/>
        </p:nvSpPr>
        <p:spPr>
          <a:xfrm>
            <a:off x="1168371" y="3167856"/>
            <a:ext cx="4775081"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Road hazards made visible to planners.</a:t>
            </a:r>
            <a:endParaRPr lang="en-US" sz="1350" dirty="0"/>
          </a:p>
        </p:txBody>
      </p:sp>
      <p:pic>
        <p:nvPicPr>
          <p:cNvPr id="10" name="Image 2" descr="preencoded.png"/>
          <p:cNvPicPr>
            <a:picLocks noChangeAspect="1"/>
          </p:cNvPicPr>
          <p:nvPr/>
        </p:nvPicPr>
        <p:blipFill>
          <a:blip r:embed="rId5"/>
          <a:stretch>
            <a:fillRect/>
          </a:stretch>
        </p:blipFill>
        <p:spPr>
          <a:xfrm>
            <a:off x="558786" y="3972020"/>
            <a:ext cx="406390" cy="406400"/>
          </a:xfrm>
          <a:prstGeom prst="rect">
            <a:avLst/>
          </a:prstGeom>
        </p:spPr>
      </p:pic>
      <p:sp>
        <p:nvSpPr>
          <p:cNvPr id="11" name="Text 6"/>
          <p:cNvSpPr/>
          <p:nvPr/>
        </p:nvSpPr>
        <p:spPr>
          <a:xfrm>
            <a:off x="1168371" y="3972024"/>
            <a:ext cx="4775081"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Pedestrians and cyclists</a:t>
            </a:r>
            <a:endParaRPr lang="en-US" sz="1800" dirty="0"/>
          </a:p>
        </p:txBody>
      </p:sp>
      <p:sp>
        <p:nvSpPr>
          <p:cNvPr id="12" name="Text 7"/>
          <p:cNvSpPr/>
          <p:nvPr/>
        </p:nvSpPr>
        <p:spPr>
          <a:xfrm>
            <a:off x="1168371" y="4471095"/>
            <a:ext cx="4775081"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Exposure considered in prioritization.</a:t>
            </a:r>
            <a:endParaRPr lang="en-US" sz="1350" dirty="0"/>
          </a:p>
        </p:txBody>
      </p:sp>
      <p:pic>
        <p:nvPicPr>
          <p:cNvPr id="13" name="Image 3" descr="preencoded.png"/>
          <p:cNvPicPr>
            <a:picLocks noChangeAspect="1"/>
          </p:cNvPicPr>
          <p:nvPr/>
        </p:nvPicPr>
        <p:blipFill>
          <a:blip r:embed="rId6"/>
          <a:stretch>
            <a:fillRect/>
          </a:stretch>
        </p:blipFill>
        <p:spPr>
          <a:xfrm>
            <a:off x="558786" y="5275259"/>
            <a:ext cx="406390" cy="406400"/>
          </a:xfrm>
          <a:prstGeom prst="rect">
            <a:avLst/>
          </a:prstGeom>
        </p:spPr>
      </p:pic>
      <p:sp>
        <p:nvSpPr>
          <p:cNvPr id="14" name="Text 8"/>
          <p:cNvSpPr/>
          <p:nvPr/>
        </p:nvSpPr>
        <p:spPr>
          <a:xfrm>
            <a:off x="1168371" y="5275263"/>
            <a:ext cx="4775081" cy="308570"/>
          </a:xfrm>
          <a:prstGeom prst="rect">
            <a:avLst/>
          </a:prstGeom>
          <a:noFill/>
          <a:ln/>
        </p:spPr>
        <p:txBody>
          <a:bodyPr wrap="none" lIns="0" tIns="0" rIns="0" bIns="0" rtlCol="0" anchor="t"/>
          <a:lstStyle/>
          <a:p>
            <a:pPr marL="0" indent="0" algn="l">
              <a:lnSpc>
                <a:spcPct val="113000"/>
              </a:lnSpc>
              <a:buNone/>
            </a:pPr>
            <a:r>
              <a:rPr lang="en-US" sz="1800" dirty="0">
                <a:solidFill>
                  <a:srgbClr val="B4C2EC"/>
                </a:solidFill>
                <a:latin typeface="Onest" pitchFamily="34" charset="0"/>
                <a:ea typeface="Onest" pitchFamily="34" charset="-122"/>
                <a:cs typeface="Onest" pitchFamily="34" charset="-120"/>
              </a:rPr>
              <a:t>Communities and reporting groups</a:t>
            </a:r>
            <a:endParaRPr lang="en-US" sz="1800" dirty="0"/>
          </a:p>
        </p:txBody>
      </p:sp>
      <p:sp>
        <p:nvSpPr>
          <p:cNvPr id="15" name="Text 9"/>
          <p:cNvSpPr/>
          <p:nvPr/>
        </p:nvSpPr>
        <p:spPr>
          <a:xfrm>
            <a:off x="1168371" y="5774333"/>
            <a:ext cx="4775081" cy="236537"/>
          </a:xfrm>
          <a:prstGeom prst="rect">
            <a:avLst/>
          </a:prstGeom>
          <a:noFill/>
          <a:ln/>
        </p:spPr>
        <p:txBody>
          <a:bodyPr wrap="none" lIns="0" tIns="0" rIns="0" bIns="0" rtlCol="0" anchor="t"/>
          <a:lstStyle/>
          <a:p>
            <a:pPr marL="0" indent="0" algn="l">
              <a:lnSpc>
                <a:spcPct val="115000"/>
              </a:lnSpc>
              <a:buNone/>
            </a:pPr>
            <a:r>
              <a:rPr lang="en-US" sz="1350" dirty="0">
                <a:solidFill>
                  <a:srgbClr val="E9EEFF"/>
                </a:solidFill>
                <a:latin typeface="Onest" pitchFamily="34" charset="0"/>
                <a:ea typeface="Onest" pitchFamily="34" charset="-122"/>
                <a:cs typeface="Onest" pitchFamily="34" charset="-120"/>
              </a:rPr>
              <a:t>A clearer reporting and status trail.</a:t>
            </a:r>
            <a:endParaRPr lang="en-US" sz="1350" dirty="0"/>
          </a:p>
        </p:txBody>
      </p:sp>
      <p:sp>
        <p:nvSpPr>
          <p:cNvPr id="16" name="Shape 10"/>
          <p:cNvSpPr/>
          <p:nvPr/>
        </p:nvSpPr>
        <p:spPr>
          <a:xfrm>
            <a:off x="6248244" y="1365548"/>
            <a:ext cx="5384665" cy="5060652"/>
          </a:xfrm>
          <a:prstGeom prst="roundRect">
            <a:avLst>
              <a:gd name="adj" fmla="val 2409"/>
            </a:avLst>
          </a:prstGeom>
          <a:solidFill>
            <a:srgbClr val="152060"/>
          </a:solidFill>
          <a:ln w="6350">
            <a:solidFill>
              <a:srgbClr val="2B3A80"/>
            </a:solidFill>
            <a:prstDash val="solid"/>
          </a:ln>
        </p:spPr>
      </p:sp>
      <p:sp>
        <p:nvSpPr>
          <p:cNvPr id="17" name="Text 11"/>
          <p:cNvSpPr/>
          <p:nvPr/>
        </p:nvSpPr>
        <p:spPr>
          <a:xfrm>
            <a:off x="6483188" y="1600498"/>
            <a:ext cx="4914777" cy="308570"/>
          </a:xfrm>
          <a:prstGeom prst="rect">
            <a:avLst/>
          </a:prstGeom>
          <a:noFill/>
          <a:ln/>
        </p:spPr>
        <p:txBody>
          <a:bodyPr wrap="none" lIns="0" tIns="0" rIns="0" bIns="0" rtlCol="0" anchor="t"/>
          <a:lstStyle/>
          <a:p>
            <a:pPr marL="0" indent="0" algn="l">
              <a:lnSpc>
                <a:spcPct val="113000"/>
              </a:lnSpc>
              <a:buNone/>
            </a:pPr>
            <a:r>
              <a:rPr lang="en-US" sz="1800" dirty="0">
                <a:solidFill>
                  <a:srgbClr val="E9EEFF"/>
                </a:solidFill>
                <a:latin typeface="Onest" pitchFamily="34" charset="0"/>
                <a:ea typeface="Onest" pitchFamily="34" charset="-122"/>
                <a:cs typeface="Onest" pitchFamily="34" charset="-120"/>
              </a:rPr>
              <a:t>Future evaluation indicators</a:t>
            </a:r>
            <a:endParaRPr lang="en-US" sz="1800" dirty="0"/>
          </a:p>
        </p:txBody>
      </p:sp>
      <p:sp>
        <p:nvSpPr>
          <p:cNvPr id="18" name="Text 12"/>
          <p:cNvSpPr/>
          <p:nvPr/>
        </p:nvSpPr>
        <p:spPr>
          <a:xfrm>
            <a:off x="6483188" y="2099568"/>
            <a:ext cx="4914777" cy="1605161"/>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Detection precision and recall</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Percentage of duplicate reports removed</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Time to generate an inspection report</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Agreement with human repair priorities</a:t>
            </a:r>
            <a:endParaRPr lang="en-US" sz="1600" dirty="0"/>
          </a:p>
          <a:p>
            <a:pPr marL="325120" indent="-325120" algn="l">
              <a:lnSpc>
                <a:spcPct val="115000"/>
              </a:lnSpc>
              <a:buSzPct val="100000"/>
              <a:buChar char="•"/>
            </a:pPr>
            <a:r>
              <a:rPr lang="en-US" sz="1600" dirty="0">
                <a:solidFill>
                  <a:srgbClr val="E9EEFF"/>
                </a:solidFill>
                <a:latin typeface="Onest" pitchFamily="34" charset="0"/>
                <a:ea typeface="Onest" pitchFamily="34" charset="-122"/>
                <a:cs typeface="Onest" pitchFamily="34" charset="-120"/>
              </a:rPr>
              <a:t>Percentage of reported repairs verified</a:t>
            </a:r>
            <a:endParaRPr lang="en-US" sz="1600" dirty="0"/>
          </a:p>
        </p:txBody>
      </p:sp>
      <p:sp>
        <p:nvSpPr>
          <p:cNvPr id="19" name="Text 13"/>
          <p:cNvSpPr/>
          <p:nvPr/>
        </p:nvSpPr>
        <p:spPr>
          <a:xfrm>
            <a:off x="6483188" y="3806488"/>
            <a:ext cx="5149721" cy="189805"/>
          </a:xfrm>
          <a:prstGeom prst="rect">
            <a:avLst/>
          </a:prstGeom>
          <a:noFill/>
          <a:ln/>
        </p:spPr>
        <p:txBody>
          <a:bodyPr wrap="none" lIns="0" tIns="0" rIns="0" bIns="0" rtlCol="0" anchor="t"/>
          <a:lstStyle/>
          <a:p>
            <a:pPr marL="0" indent="0" algn="l">
              <a:lnSpc>
                <a:spcPct val="108000"/>
              </a:lnSpc>
              <a:buNone/>
            </a:pPr>
            <a:r>
              <a:rPr lang="en-US" sz="1150" kern="100" spc="11" dirty="0">
                <a:solidFill>
                  <a:srgbClr val="E9EEFF"/>
                </a:solidFill>
                <a:latin typeface="Onest" pitchFamily="34" charset="0"/>
                <a:ea typeface="Onest" pitchFamily="34" charset="-122"/>
                <a:cs typeface="Onest" pitchFamily="34" charset="-120"/>
              </a:rPr>
              <a:t>No results yet. No promised safety gains.</a:t>
            </a:r>
            <a:endParaRPr lang="en-US" sz="1150" dirty="0"/>
          </a:p>
        </p:txBody>
      </p:sp>
      <p:sp>
        <p:nvSpPr>
          <p:cNvPr id="20" name="Rectangle 19"/>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2775"/>
            <a:ext cx="11582110" cy="159941"/>
          </a:xfrm>
          <a:prstGeom prst="rect">
            <a:avLst/>
          </a:prstGeom>
          <a:noFill/>
          <a:ln/>
        </p:spPr>
        <p:txBody>
          <a:bodyPr wrap="none" lIns="0" tIns="0" rIns="0" bIns="0" rtlCol="0" anchor="t"/>
          <a:lstStyle/>
          <a:p>
            <a:pPr marL="0" indent="0" algn="l">
              <a:lnSpc>
                <a:spcPct val="100000"/>
              </a:lnSpc>
              <a:buNone/>
            </a:pPr>
            <a:r>
              <a:rPr lang="en-US" sz="1050" kern="100" spc="105" dirty="0">
                <a:solidFill>
                  <a:srgbClr val="7FA6F2"/>
                </a:solidFill>
                <a:latin typeface="Onest SemiBold" pitchFamily="34" charset="0"/>
                <a:ea typeface="Onest SemiBold" pitchFamily="34" charset="-122"/>
                <a:cs typeface="Onest SemiBold" pitchFamily="34" charset="-120"/>
              </a:rPr>
              <a:t>HACKATHON MVP · PROPOSED BUILD SEQUENCE</a:t>
            </a:r>
            <a:endParaRPr lang="en-US" sz="1050" dirty="0"/>
          </a:p>
        </p:txBody>
      </p:sp>
      <p:sp>
        <p:nvSpPr>
          <p:cNvPr id="3" name="Text 1"/>
          <p:cNvSpPr/>
          <p:nvPr/>
        </p:nvSpPr>
        <p:spPr>
          <a:xfrm>
            <a:off x="609585" y="892676"/>
            <a:ext cx="10972526" cy="440432"/>
          </a:xfrm>
          <a:prstGeom prst="rect">
            <a:avLst/>
          </a:prstGeom>
          <a:noFill/>
          <a:ln/>
        </p:spPr>
        <p:txBody>
          <a:bodyPr wrap="none" lIns="0" tIns="0" rIns="0" bIns="0" rtlCol="0" anchor="t"/>
          <a:lstStyle/>
          <a:p>
            <a:pPr marL="0" indent="0" algn="l">
              <a:lnSpc>
                <a:spcPct val="85000"/>
              </a:lnSpc>
              <a:buNone/>
            </a:pPr>
            <a:r>
              <a:rPr lang="en-US" sz="3400" b="1" kern="100" spc="-85" dirty="0">
                <a:solidFill>
                  <a:srgbClr val="FFFFFF"/>
                </a:solidFill>
                <a:latin typeface="Familjen Grotesk Bold" pitchFamily="34" charset="0"/>
                <a:ea typeface="Familjen Grotesk Bold" pitchFamily="34" charset="-122"/>
                <a:cs typeface="Familjen Grotesk Bold" pitchFamily="34" charset="-120"/>
              </a:rPr>
              <a:t>A </a:t>
            </a:r>
            <a:r>
              <a:rPr lang="en-US" sz="3400" b="1" kern="100" spc="-85" dirty="0">
                <a:solidFill>
                  <a:srgbClr val="BFEBFF"/>
                </a:solidFill>
                <a:latin typeface="Familjen Grotesk Bold" pitchFamily="34" charset="0"/>
                <a:ea typeface="Familjen Grotesk Bold" pitchFamily="34" charset="-122"/>
                <a:cs typeface="Familjen Grotesk Bold" pitchFamily="34" charset="-120"/>
              </a:rPr>
              <a:t>five-phase</a:t>
            </a:r>
            <a:r>
              <a:rPr lang="en-US" sz="3400" b="1" kern="100" spc="-85" dirty="0">
                <a:solidFill>
                  <a:srgbClr val="FFFFFF"/>
                </a:solidFill>
                <a:latin typeface="Familjen Grotesk Bold" pitchFamily="34" charset="0"/>
                <a:ea typeface="Familjen Grotesk Bold" pitchFamily="34" charset="-122"/>
                <a:cs typeface="Familjen Grotesk Bold" pitchFamily="34" charset="-120"/>
              </a:rPr>
              <a:t> MVP plan</a:t>
            </a:r>
            <a:endParaRPr lang="en-US" sz="3400" dirty="0"/>
          </a:p>
        </p:txBody>
      </p:sp>
      <p:sp>
        <p:nvSpPr>
          <p:cNvPr id="4" name="Text 2"/>
          <p:cNvSpPr/>
          <p:nvPr/>
        </p:nvSpPr>
        <p:spPr>
          <a:xfrm>
            <a:off x="609585" y="1467148"/>
            <a:ext cx="10972526" cy="342900"/>
          </a:xfrm>
          <a:prstGeom prst="rect">
            <a:avLst/>
          </a:prstGeom>
          <a:noFill/>
          <a:ln/>
        </p:spPr>
        <p:txBody>
          <a:bodyPr wrap="none" lIns="0" tIns="0" rIns="0" bIns="0" rtlCol="0" anchor="t"/>
          <a:lstStyle/>
          <a:p>
            <a:pPr marL="0" indent="0" algn="l">
              <a:lnSpc>
                <a:spcPct val="112000"/>
              </a:lnSpc>
              <a:buNone/>
            </a:pPr>
            <a:r>
              <a:rPr lang="en-US" sz="2000" dirty="0">
                <a:solidFill>
                  <a:srgbClr val="B4C2EC"/>
                </a:solidFill>
                <a:latin typeface="Onest" pitchFamily="34" charset="0"/>
                <a:ea typeface="Onest" pitchFamily="34" charset="-122"/>
                <a:cs typeface="Onest" pitchFamily="34" charset="-120"/>
              </a:rPr>
              <a:t>Working prototype first; end-to-end demo is the delivery target.</a:t>
            </a:r>
            <a:endParaRPr lang="en-US" sz="2000" dirty="0"/>
          </a:p>
        </p:txBody>
      </p:sp>
      <p:sp>
        <p:nvSpPr>
          <p:cNvPr id="5" name="Shape 3"/>
          <p:cNvSpPr/>
          <p:nvPr/>
        </p:nvSpPr>
        <p:spPr>
          <a:xfrm>
            <a:off x="609585" y="3791843"/>
            <a:ext cx="10972526" cy="28575"/>
          </a:xfrm>
          <a:prstGeom prst="roundRect">
            <a:avLst>
              <a:gd name="adj" fmla="val 39999"/>
            </a:avLst>
          </a:prstGeom>
          <a:solidFill>
            <a:srgbClr val="454F87"/>
          </a:solidFill>
          <a:ln/>
        </p:spPr>
      </p:sp>
      <p:sp>
        <p:nvSpPr>
          <p:cNvPr id="6" name="Shape 4"/>
          <p:cNvSpPr/>
          <p:nvPr/>
        </p:nvSpPr>
        <p:spPr>
          <a:xfrm>
            <a:off x="2339321" y="3182243"/>
            <a:ext cx="28574" cy="609600"/>
          </a:xfrm>
          <a:prstGeom prst="roundRect">
            <a:avLst>
              <a:gd name="adj" fmla="val 40000"/>
            </a:avLst>
          </a:prstGeom>
          <a:solidFill>
            <a:srgbClr val="454F87"/>
          </a:solidFill>
          <a:ln/>
        </p:spPr>
      </p:sp>
      <p:sp>
        <p:nvSpPr>
          <p:cNvPr id="7" name="Shape 5"/>
          <p:cNvSpPr/>
          <p:nvPr/>
        </p:nvSpPr>
        <p:spPr>
          <a:xfrm>
            <a:off x="2125014" y="3563243"/>
            <a:ext cx="457189" cy="457200"/>
          </a:xfrm>
          <a:prstGeom prst="roundRect">
            <a:avLst>
              <a:gd name="adj" fmla="val 2500"/>
            </a:avLst>
          </a:prstGeom>
          <a:solidFill>
            <a:srgbClr val="0D174F"/>
          </a:solidFill>
          <a:ln w="12700">
            <a:solidFill>
              <a:srgbClr val="454F87"/>
            </a:solidFill>
            <a:prstDash val="solid"/>
          </a:ln>
        </p:spPr>
      </p:sp>
      <p:sp>
        <p:nvSpPr>
          <p:cNvPr id="8" name="Text 6"/>
          <p:cNvSpPr/>
          <p:nvPr/>
        </p:nvSpPr>
        <p:spPr>
          <a:xfrm>
            <a:off x="2201212" y="3636417"/>
            <a:ext cx="304792" cy="310852"/>
          </a:xfrm>
          <a:prstGeom prst="rect">
            <a:avLst/>
          </a:prstGeom>
          <a:noFill/>
          <a:ln/>
        </p:spPr>
        <p:txBody>
          <a:bodyPr wrap="none" lIns="0" tIns="0" rIns="0" bIns="0" rtlCol="0" anchor="ctr"/>
          <a:lstStyle/>
          <a:p>
            <a:pPr marL="0" indent="0" algn="ctr">
              <a:lnSpc>
                <a:spcPct val="100000"/>
              </a:lnSpc>
              <a:buNone/>
            </a:pPr>
            <a:r>
              <a:rPr lang="en-US" sz="2400" b="1" kern="100" spc="-60" dirty="0">
                <a:solidFill>
                  <a:srgbClr val="E9EEFF"/>
                </a:solidFill>
                <a:latin typeface="Familjen Grotesk Bold" pitchFamily="34" charset="0"/>
                <a:ea typeface="Familjen Grotesk Bold" pitchFamily="34" charset="-122"/>
                <a:cs typeface="Familjen Grotesk Bold" pitchFamily="34" charset="-120"/>
              </a:rPr>
              <a:t>1</a:t>
            </a:r>
            <a:endParaRPr lang="en-US" sz="2400" dirty="0"/>
          </a:p>
        </p:txBody>
      </p:sp>
      <p:sp>
        <p:nvSpPr>
          <p:cNvPr id="9" name="Text 7"/>
          <p:cNvSpPr/>
          <p:nvPr/>
        </p:nvSpPr>
        <p:spPr>
          <a:xfrm>
            <a:off x="812730" y="1987848"/>
            <a:ext cx="3081756" cy="308570"/>
          </a:xfrm>
          <a:prstGeom prst="rect">
            <a:avLst/>
          </a:prstGeom>
          <a:noFill/>
          <a:ln/>
        </p:spPr>
        <p:txBody>
          <a:bodyPr wrap="none" lIns="0" tIns="0" rIns="0" bIns="0" rtlCol="0" anchor="t"/>
          <a:lstStyle/>
          <a:p>
            <a:pPr marL="0" indent="0" algn="ctr">
              <a:lnSpc>
                <a:spcPct val="113000"/>
              </a:lnSpc>
              <a:buNone/>
            </a:pPr>
            <a:r>
              <a:rPr lang="en-US" sz="1800" b="1" kern="100" spc="-45" dirty="0">
                <a:solidFill>
                  <a:srgbClr val="E9EEFF"/>
                </a:solidFill>
                <a:latin typeface="Familjen Grotesk Bold" pitchFamily="34" charset="0"/>
                <a:ea typeface="Familjen Grotesk Bold" pitchFamily="34" charset="-122"/>
                <a:cs typeface="Familjen Grotesk Bold" pitchFamily="34" charset="-120"/>
              </a:rPr>
              <a:t>Prepare</a:t>
            </a:r>
            <a:endParaRPr lang="en-US" sz="1800" dirty="0"/>
          </a:p>
        </p:txBody>
      </p:sp>
      <p:sp>
        <p:nvSpPr>
          <p:cNvPr id="10" name="Text 8"/>
          <p:cNvSpPr/>
          <p:nvPr/>
        </p:nvSpPr>
        <p:spPr>
          <a:xfrm>
            <a:off x="812780" y="2418259"/>
            <a:ext cx="308175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E9EEFF"/>
                </a:solidFill>
                <a:latin typeface="Onest" pitchFamily="34" charset="0"/>
                <a:ea typeface="Onest" pitchFamily="34" charset="-122"/>
                <a:cs typeface="Onest" pitchFamily="34" charset="-120"/>
              </a:rPr>
              <a:t>Sample road images and videos; set up detection pipeline.</a:t>
            </a:r>
            <a:endParaRPr lang="en-US" sz="1600" dirty="0"/>
          </a:p>
        </p:txBody>
      </p:sp>
      <p:sp>
        <p:nvSpPr>
          <p:cNvPr id="11" name="Shape 9"/>
          <p:cNvSpPr/>
          <p:nvPr/>
        </p:nvSpPr>
        <p:spPr>
          <a:xfrm>
            <a:off x="4210441" y="3791843"/>
            <a:ext cx="28574" cy="609600"/>
          </a:xfrm>
          <a:prstGeom prst="roundRect">
            <a:avLst>
              <a:gd name="adj" fmla="val 40000"/>
            </a:avLst>
          </a:prstGeom>
          <a:solidFill>
            <a:srgbClr val="454F87"/>
          </a:solidFill>
          <a:ln/>
        </p:spPr>
      </p:sp>
      <p:sp>
        <p:nvSpPr>
          <p:cNvPr id="12" name="Shape 10"/>
          <p:cNvSpPr/>
          <p:nvPr/>
        </p:nvSpPr>
        <p:spPr>
          <a:xfrm>
            <a:off x="3996134" y="3563243"/>
            <a:ext cx="457189" cy="457200"/>
          </a:xfrm>
          <a:prstGeom prst="roundRect">
            <a:avLst>
              <a:gd name="adj" fmla="val 2500"/>
            </a:avLst>
          </a:prstGeom>
          <a:solidFill>
            <a:srgbClr val="0D174F"/>
          </a:solidFill>
          <a:ln w="12700">
            <a:solidFill>
              <a:srgbClr val="454F87"/>
            </a:solidFill>
            <a:prstDash val="solid"/>
          </a:ln>
        </p:spPr>
      </p:sp>
      <p:sp>
        <p:nvSpPr>
          <p:cNvPr id="13" name="Text 11"/>
          <p:cNvSpPr/>
          <p:nvPr/>
        </p:nvSpPr>
        <p:spPr>
          <a:xfrm>
            <a:off x="4072332" y="3636417"/>
            <a:ext cx="304792" cy="310852"/>
          </a:xfrm>
          <a:prstGeom prst="rect">
            <a:avLst/>
          </a:prstGeom>
          <a:noFill/>
          <a:ln/>
        </p:spPr>
        <p:txBody>
          <a:bodyPr wrap="none" lIns="0" tIns="0" rIns="0" bIns="0" rtlCol="0" anchor="ctr"/>
          <a:lstStyle/>
          <a:p>
            <a:pPr marL="0" indent="0" algn="ctr">
              <a:lnSpc>
                <a:spcPct val="100000"/>
              </a:lnSpc>
              <a:buNone/>
            </a:pPr>
            <a:r>
              <a:rPr lang="en-US" sz="2400" b="1" kern="100" spc="-60" dirty="0">
                <a:solidFill>
                  <a:srgbClr val="E9EEFF"/>
                </a:solidFill>
                <a:latin typeface="Familjen Grotesk Bold" pitchFamily="34" charset="0"/>
                <a:ea typeface="Familjen Grotesk Bold" pitchFamily="34" charset="-122"/>
                <a:cs typeface="Familjen Grotesk Bold" pitchFamily="34" charset="-120"/>
              </a:rPr>
              <a:t>2</a:t>
            </a:r>
            <a:endParaRPr lang="en-US" sz="2400" dirty="0"/>
          </a:p>
        </p:txBody>
      </p:sp>
      <p:sp>
        <p:nvSpPr>
          <p:cNvPr id="14" name="Text 12"/>
          <p:cNvSpPr/>
          <p:nvPr/>
        </p:nvSpPr>
        <p:spPr>
          <a:xfrm>
            <a:off x="2683800" y="4604643"/>
            <a:ext cx="3081856" cy="308570"/>
          </a:xfrm>
          <a:prstGeom prst="rect">
            <a:avLst/>
          </a:prstGeom>
          <a:noFill/>
          <a:ln/>
        </p:spPr>
        <p:txBody>
          <a:bodyPr wrap="none" lIns="0" tIns="0" rIns="0" bIns="0" rtlCol="0" anchor="t"/>
          <a:lstStyle/>
          <a:p>
            <a:pPr marL="0" indent="0" algn="ctr">
              <a:lnSpc>
                <a:spcPct val="113000"/>
              </a:lnSpc>
              <a:buNone/>
            </a:pPr>
            <a:r>
              <a:rPr lang="en-US" sz="1800" b="1" kern="100" spc="-45" dirty="0">
                <a:solidFill>
                  <a:srgbClr val="E9EEFF"/>
                </a:solidFill>
                <a:latin typeface="Familjen Grotesk Bold" pitchFamily="34" charset="0"/>
                <a:ea typeface="Familjen Grotesk Bold" pitchFamily="34" charset="-122"/>
                <a:cs typeface="Familjen Grotesk Bold" pitchFamily="34" charset="-120"/>
              </a:rPr>
              <a:t>Detect</a:t>
            </a:r>
            <a:endParaRPr lang="en-US" sz="1800" dirty="0"/>
          </a:p>
        </p:txBody>
      </p:sp>
      <p:sp>
        <p:nvSpPr>
          <p:cNvPr id="15" name="Text 13"/>
          <p:cNvSpPr/>
          <p:nvPr/>
        </p:nvSpPr>
        <p:spPr>
          <a:xfrm>
            <a:off x="2683800" y="5035054"/>
            <a:ext cx="308185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E9EEFF"/>
                </a:solidFill>
                <a:latin typeface="Onest" pitchFamily="34" charset="0"/>
                <a:ea typeface="Onest" pitchFamily="34" charset="-122"/>
                <a:cs typeface="Onest" pitchFamily="34" charset="-120"/>
              </a:rPr>
              <a:t>Video-frame analysis and damage detection.</a:t>
            </a:r>
            <a:endParaRPr lang="en-US" sz="1600" dirty="0"/>
          </a:p>
        </p:txBody>
      </p:sp>
      <p:sp>
        <p:nvSpPr>
          <p:cNvPr id="16" name="Shape 14"/>
          <p:cNvSpPr/>
          <p:nvPr/>
        </p:nvSpPr>
        <p:spPr>
          <a:xfrm>
            <a:off x="6081461" y="3182243"/>
            <a:ext cx="28574" cy="609600"/>
          </a:xfrm>
          <a:prstGeom prst="roundRect">
            <a:avLst>
              <a:gd name="adj" fmla="val 40000"/>
            </a:avLst>
          </a:prstGeom>
          <a:solidFill>
            <a:srgbClr val="454F87"/>
          </a:solidFill>
          <a:ln/>
        </p:spPr>
      </p:sp>
      <p:sp>
        <p:nvSpPr>
          <p:cNvPr id="17" name="Shape 15"/>
          <p:cNvSpPr/>
          <p:nvPr/>
        </p:nvSpPr>
        <p:spPr>
          <a:xfrm>
            <a:off x="5867154" y="3563243"/>
            <a:ext cx="457189" cy="457200"/>
          </a:xfrm>
          <a:prstGeom prst="roundRect">
            <a:avLst>
              <a:gd name="adj" fmla="val 2500"/>
            </a:avLst>
          </a:prstGeom>
          <a:solidFill>
            <a:srgbClr val="0D174F"/>
          </a:solidFill>
          <a:ln w="12700">
            <a:solidFill>
              <a:srgbClr val="454F87"/>
            </a:solidFill>
            <a:prstDash val="solid"/>
          </a:ln>
        </p:spPr>
      </p:sp>
      <p:sp>
        <p:nvSpPr>
          <p:cNvPr id="18" name="Text 16"/>
          <p:cNvSpPr/>
          <p:nvPr/>
        </p:nvSpPr>
        <p:spPr>
          <a:xfrm>
            <a:off x="5943352" y="3636417"/>
            <a:ext cx="304792" cy="310852"/>
          </a:xfrm>
          <a:prstGeom prst="rect">
            <a:avLst/>
          </a:prstGeom>
          <a:noFill/>
          <a:ln/>
        </p:spPr>
        <p:txBody>
          <a:bodyPr wrap="none" lIns="0" tIns="0" rIns="0" bIns="0" rtlCol="0" anchor="ctr"/>
          <a:lstStyle/>
          <a:p>
            <a:pPr marL="0" indent="0" algn="ctr">
              <a:lnSpc>
                <a:spcPct val="100000"/>
              </a:lnSpc>
              <a:buNone/>
            </a:pPr>
            <a:r>
              <a:rPr lang="en-US" sz="2400" b="1" kern="100" spc="-60" dirty="0">
                <a:solidFill>
                  <a:srgbClr val="E9EEFF"/>
                </a:solidFill>
                <a:latin typeface="Familjen Grotesk Bold" pitchFamily="34" charset="0"/>
                <a:ea typeface="Familjen Grotesk Bold" pitchFamily="34" charset="-122"/>
                <a:cs typeface="Familjen Grotesk Bold" pitchFamily="34" charset="-120"/>
              </a:rPr>
              <a:t>3</a:t>
            </a:r>
            <a:endParaRPr lang="en-US" sz="2400" dirty="0"/>
          </a:p>
        </p:txBody>
      </p:sp>
      <p:sp>
        <p:nvSpPr>
          <p:cNvPr id="19" name="Text 17"/>
          <p:cNvSpPr/>
          <p:nvPr/>
        </p:nvSpPr>
        <p:spPr>
          <a:xfrm>
            <a:off x="4554870" y="1987848"/>
            <a:ext cx="3081756" cy="308570"/>
          </a:xfrm>
          <a:prstGeom prst="rect">
            <a:avLst/>
          </a:prstGeom>
          <a:noFill/>
          <a:ln/>
        </p:spPr>
        <p:txBody>
          <a:bodyPr wrap="none" lIns="0" tIns="0" rIns="0" bIns="0" rtlCol="0" anchor="t"/>
          <a:lstStyle/>
          <a:p>
            <a:pPr marL="0" indent="0" algn="ctr">
              <a:lnSpc>
                <a:spcPct val="113000"/>
              </a:lnSpc>
              <a:buNone/>
            </a:pPr>
            <a:r>
              <a:rPr lang="en-US" sz="1800" b="1" kern="100" spc="-45" dirty="0">
                <a:solidFill>
                  <a:srgbClr val="E9EEFF"/>
                </a:solidFill>
                <a:latin typeface="Familjen Grotesk Bold" pitchFamily="34" charset="0"/>
                <a:ea typeface="Familjen Grotesk Bold" pitchFamily="34" charset="-122"/>
                <a:cs typeface="Familjen Grotesk Bold" pitchFamily="34" charset="-120"/>
              </a:rPr>
              <a:t>Locate</a:t>
            </a:r>
            <a:endParaRPr lang="en-US" sz="1800" dirty="0"/>
          </a:p>
        </p:txBody>
      </p:sp>
      <p:sp>
        <p:nvSpPr>
          <p:cNvPr id="20" name="Text 18"/>
          <p:cNvSpPr/>
          <p:nvPr/>
        </p:nvSpPr>
        <p:spPr>
          <a:xfrm>
            <a:off x="4554920" y="2418259"/>
            <a:ext cx="308175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E9EEFF"/>
                </a:solidFill>
                <a:latin typeface="Onest" pitchFamily="34" charset="0"/>
                <a:ea typeface="Onest" pitchFamily="34" charset="-122"/>
                <a:cs typeface="Onest" pitchFamily="34" charset="-120"/>
              </a:rPr>
              <a:t>Map, location association and deduplication.</a:t>
            </a:r>
            <a:endParaRPr lang="en-US" sz="1600" dirty="0"/>
          </a:p>
        </p:txBody>
      </p:sp>
      <p:sp>
        <p:nvSpPr>
          <p:cNvPr id="21" name="Shape 19"/>
          <p:cNvSpPr/>
          <p:nvPr/>
        </p:nvSpPr>
        <p:spPr>
          <a:xfrm>
            <a:off x="7952581" y="3791843"/>
            <a:ext cx="28574" cy="609600"/>
          </a:xfrm>
          <a:prstGeom prst="roundRect">
            <a:avLst>
              <a:gd name="adj" fmla="val 40000"/>
            </a:avLst>
          </a:prstGeom>
          <a:solidFill>
            <a:srgbClr val="454F87"/>
          </a:solidFill>
          <a:ln/>
        </p:spPr>
      </p:sp>
      <p:sp>
        <p:nvSpPr>
          <p:cNvPr id="22" name="Shape 20"/>
          <p:cNvSpPr/>
          <p:nvPr/>
        </p:nvSpPr>
        <p:spPr>
          <a:xfrm>
            <a:off x="7738274" y="3563243"/>
            <a:ext cx="457189" cy="457200"/>
          </a:xfrm>
          <a:prstGeom prst="roundRect">
            <a:avLst>
              <a:gd name="adj" fmla="val 2500"/>
            </a:avLst>
          </a:prstGeom>
          <a:solidFill>
            <a:srgbClr val="0D174F"/>
          </a:solidFill>
          <a:ln w="12700">
            <a:solidFill>
              <a:srgbClr val="454F87"/>
            </a:solidFill>
            <a:prstDash val="solid"/>
          </a:ln>
        </p:spPr>
      </p:sp>
      <p:sp>
        <p:nvSpPr>
          <p:cNvPr id="23" name="Text 21"/>
          <p:cNvSpPr/>
          <p:nvPr/>
        </p:nvSpPr>
        <p:spPr>
          <a:xfrm>
            <a:off x="7814472" y="3636417"/>
            <a:ext cx="304792" cy="310852"/>
          </a:xfrm>
          <a:prstGeom prst="rect">
            <a:avLst/>
          </a:prstGeom>
          <a:noFill/>
          <a:ln/>
        </p:spPr>
        <p:txBody>
          <a:bodyPr wrap="none" lIns="0" tIns="0" rIns="0" bIns="0" rtlCol="0" anchor="ctr"/>
          <a:lstStyle/>
          <a:p>
            <a:pPr marL="0" indent="0" algn="ctr">
              <a:lnSpc>
                <a:spcPct val="100000"/>
              </a:lnSpc>
              <a:buNone/>
            </a:pPr>
            <a:r>
              <a:rPr lang="en-US" sz="2400" b="1" kern="100" spc="-60" dirty="0">
                <a:solidFill>
                  <a:srgbClr val="E9EEFF"/>
                </a:solidFill>
                <a:latin typeface="Familjen Grotesk Bold" pitchFamily="34" charset="0"/>
                <a:ea typeface="Familjen Grotesk Bold" pitchFamily="34" charset="-122"/>
                <a:cs typeface="Familjen Grotesk Bold" pitchFamily="34" charset="-120"/>
              </a:rPr>
              <a:t>4</a:t>
            </a:r>
            <a:endParaRPr lang="en-US" sz="2400" dirty="0"/>
          </a:p>
        </p:txBody>
      </p:sp>
      <p:sp>
        <p:nvSpPr>
          <p:cNvPr id="24" name="Text 22"/>
          <p:cNvSpPr/>
          <p:nvPr/>
        </p:nvSpPr>
        <p:spPr>
          <a:xfrm>
            <a:off x="6425990" y="4604643"/>
            <a:ext cx="3081756" cy="308570"/>
          </a:xfrm>
          <a:prstGeom prst="rect">
            <a:avLst/>
          </a:prstGeom>
          <a:noFill/>
          <a:ln/>
        </p:spPr>
        <p:txBody>
          <a:bodyPr wrap="none" lIns="0" tIns="0" rIns="0" bIns="0" rtlCol="0" anchor="t"/>
          <a:lstStyle/>
          <a:p>
            <a:pPr marL="0" indent="0" algn="ctr">
              <a:lnSpc>
                <a:spcPct val="113000"/>
              </a:lnSpc>
              <a:buNone/>
            </a:pPr>
            <a:r>
              <a:rPr lang="en-US" sz="1800" b="1" kern="100" spc="-45" dirty="0">
                <a:solidFill>
                  <a:srgbClr val="E9EEFF"/>
                </a:solidFill>
                <a:latin typeface="Familjen Grotesk Bold" pitchFamily="34" charset="0"/>
                <a:ea typeface="Familjen Grotesk Bold" pitchFamily="34" charset="-122"/>
                <a:cs typeface="Familjen Grotesk Bold" pitchFamily="34" charset="-120"/>
              </a:rPr>
              <a:t>Prioritize</a:t>
            </a:r>
            <a:endParaRPr lang="en-US" sz="1800" dirty="0"/>
          </a:p>
        </p:txBody>
      </p:sp>
      <p:sp>
        <p:nvSpPr>
          <p:cNvPr id="25" name="Text 23"/>
          <p:cNvSpPr/>
          <p:nvPr/>
        </p:nvSpPr>
        <p:spPr>
          <a:xfrm>
            <a:off x="6426039" y="5035054"/>
            <a:ext cx="308175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E9EEFF"/>
                </a:solidFill>
                <a:latin typeface="Onest" pitchFamily="34" charset="0"/>
                <a:ea typeface="Onest" pitchFamily="34" charset="-122"/>
                <a:cs typeface="Onest" pitchFamily="34" charset="-120"/>
              </a:rPr>
              <a:t>Explainable risk scoring and basic budget optimization.</a:t>
            </a:r>
            <a:endParaRPr lang="en-US" sz="1600" dirty="0"/>
          </a:p>
        </p:txBody>
      </p:sp>
      <p:sp>
        <p:nvSpPr>
          <p:cNvPr id="26" name="Shape 24"/>
          <p:cNvSpPr/>
          <p:nvPr/>
        </p:nvSpPr>
        <p:spPr>
          <a:xfrm>
            <a:off x="9823700" y="3182243"/>
            <a:ext cx="28574" cy="609600"/>
          </a:xfrm>
          <a:prstGeom prst="roundRect">
            <a:avLst>
              <a:gd name="adj" fmla="val 40000"/>
            </a:avLst>
          </a:prstGeom>
          <a:solidFill>
            <a:srgbClr val="454F87"/>
          </a:solidFill>
          <a:ln/>
        </p:spPr>
      </p:sp>
      <p:sp>
        <p:nvSpPr>
          <p:cNvPr id="27" name="Shape 25"/>
          <p:cNvSpPr/>
          <p:nvPr/>
        </p:nvSpPr>
        <p:spPr>
          <a:xfrm>
            <a:off x="9609393" y="3563243"/>
            <a:ext cx="457189" cy="457200"/>
          </a:xfrm>
          <a:prstGeom prst="roundRect">
            <a:avLst>
              <a:gd name="adj" fmla="val 2500"/>
            </a:avLst>
          </a:prstGeom>
          <a:solidFill>
            <a:srgbClr val="0D174F"/>
          </a:solidFill>
          <a:ln w="12700">
            <a:solidFill>
              <a:srgbClr val="454F87"/>
            </a:solidFill>
            <a:prstDash val="solid"/>
          </a:ln>
        </p:spPr>
      </p:sp>
      <p:sp>
        <p:nvSpPr>
          <p:cNvPr id="28" name="Text 26"/>
          <p:cNvSpPr/>
          <p:nvPr/>
        </p:nvSpPr>
        <p:spPr>
          <a:xfrm>
            <a:off x="9685591" y="3636417"/>
            <a:ext cx="304792" cy="310852"/>
          </a:xfrm>
          <a:prstGeom prst="rect">
            <a:avLst/>
          </a:prstGeom>
          <a:noFill/>
          <a:ln/>
        </p:spPr>
        <p:txBody>
          <a:bodyPr wrap="none" lIns="0" tIns="0" rIns="0" bIns="0" rtlCol="0" anchor="ctr"/>
          <a:lstStyle/>
          <a:p>
            <a:pPr marL="0" indent="0" algn="ctr">
              <a:lnSpc>
                <a:spcPct val="100000"/>
              </a:lnSpc>
              <a:buNone/>
            </a:pPr>
            <a:r>
              <a:rPr lang="en-US" sz="2400" b="1" kern="100" spc="-60" dirty="0">
                <a:solidFill>
                  <a:srgbClr val="E9EEFF"/>
                </a:solidFill>
                <a:latin typeface="Familjen Grotesk Bold" pitchFamily="34" charset="0"/>
                <a:ea typeface="Familjen Grotesk Bold" pitchFamily="34" charset="-122"/>
                <a:cs typeface="Familjen Grotesk Bold" pitchFamily="34" charset="-120"/>
              </a:rPr>
              <a:t>5</a:t>
            </a:r>
            <a:endParaRPr lang="en-US" sz="2400" dirty="0"/>
          </a:p>
        </p:txBody>
      </p:sp>
      <p:sp>
        <p:nvSpPr>
          <p:cNvPr id="29" name="Text 27"/>
          <p:cNvSpPr/>
          <p:nvPr/>
        </p:nvSpPr>
        <p:spPr>
          <a:xfrm>
            <a:off x="8297060" y="1987848"/>
            <a:ext cx="3081856" cy="308570"/>
          </a:xfrm>
          <a:prstGeom prst="rect">
            <a:avLst/>
          </a:prstGeom>
          <a:noFill/>
          <a:ln/>
        </p:spPr>
        <p:txBody>
          <a:bodyPr wrap="none" lIns="0" tIns="0" rIns="0" bIns="0" rtlCol="0" anchor="t"/>
          <a:lstStyle/>
          <a:p>
            <a:pPr marL="0" indent="0" algn="ctr">
              <a:lnSpc>
                <a:spcPct val="113000"/>
              </a:lnSpc>
              <a:buNone/>
            </a:pPr>
            <a:r>
              <a:rPr lang="en-US" sz="1800" b="1" kern="100" spc="-45" dirty="0">
                <a:solidFill>
                  <a:srgbClr val="E9EEFF"/>
                </a:solidFill>
                <a:latin typeface="Familjen Grotesk Bold" pitchFamily="34" charset="0"/>
                <a:ea typeface="Familjen Grotesk Bold" pitchFamily="34" charset="-122"/>
                <a:cs typeface="Familjen Grotesk Bold" pitchFamily="34" charset="-120"/>
              </a:rPr>
              <a:t>Demonstrate</a:t>
            </a:r>
            <a:endParaRPr lang="en-US" sz="1800" dirty="0"/>
          </a:p>
        </p:txBody>
      </p:sp>
      <p:sp>
        <p:nvSpPr>
          <p:cNvPr id="30" name="Text 28"/>
          <p:cNvSpPr/>
          <p:nvPr/>
        </p:nvSpPr>
        <p:spPr>
          <a:xfrm>
            <a:off x="8297060" y="2418259"/>
            <a:ext cx="3081856" cy="560784"/>
          </a:xfrm>
          <a:prstGeom prst="rect">
            <a:avLst/>
          </a:prstGeom>
          <a:noFill/>
          <a:ln/>
        </p:spPr>
        <p:txBody>
          <a:bodyPr wrap="square" lIns="0" tIns="0" rIns="0" bIns="0" rtlCol="0" anchor="t">
            <a:normAutofit lnSpcReduction="10000"/>
          </a:bodyPr>
          <a:lstStyle/>
          <a:p>
            <a:pPr marL="0" indent="0" algn="ctr">
              <a:lnSpc>
                <a:spcPct val="115000"/>
              </a:lnSpc>
              <a:buNone/>
            </a:pPr>
            <a:r>
              <a:rPr lang="en-US" sz="1600" dirty="0">
                <a:solidFill>
                  <a:srgbClr val="E9EEFF"/>
                </a:solidFill>
                <a:latin typeface="Onest" pitchFamily="34" charset="0"/>
                <a:ea typeface="Onest" pitchFamily="34" charset="-122"/>
                <a:cs typeface="Onest" pitchFamily="34" charset="-120"/>
              </a:rPr>
              <a:t>Dashboard and sample reports; test the end-to-end demo.</a:t>
            </a:r>
            <a:endParaRPr lang="en-US" sz="1600" dirty="0"/>
          </a:p>
        </p:txBody>
      </p:sp>
      <p:sp>
        <p:nvSpPr>
          <p:cNvPr id="31" name="Shape 29"/>
          <p:cNvSpPr/>
          <p:nvPr/>
        </p:nvSpPr>
        <p:spPr>
          <a:xfrm>
            <a:off x="609585" y="5773638"/>
            <a:ext cx="10972526" cy="483592"/>
          </a:xfrm>
          <a:prstGeom prst="roundRect">
            <a:avLst>
              <a:gd name="adj" fmla="val 25211"/>
            </a:avLst>
          </a:prstGeom>
          <a:solidFill>
            <a:srgbClr val="152060"/>
          </a:solidFill>
          <a:ln/>
        </p:spPr>
      </p:sp>
      <p:sp>
        <p:nvSpPr>
          <p:cNvPr id="32" name="Text 30"/>
          <p:cNvSpPr/>
          <p:nvPr/>
        </p:nvSpPr>
        <p:spPr>
          <a:xfrm>
            <a:off x="863578" y="5875238"/>
            <a:ext cx="10718532" cy="280392"/>
          </a:xfrm>
          <a:prstGeom prst="rect">
            <a:avLst/>
          </a:prstGeom>
          <a:noFill/>
          <a:ln/>
        </p:spPr>
        <p:txBody>
          <a:bodyPr wrap="none" lIns="0" tIns="0" rIns="0" bIns="0" rtlCol="0" anchor="t"/>
          <a:lstStyle/>
          <a:p>
            <a:pPr marL="0" indent="0" algn="l">
              <a:lnSpc>
                <a:spcPct val="115000"/>
              </a:lnSpc>
              <a:buNone/>
            </a:pPr>
            <a:r>
              <a:rPr lang="en-US" sz="1600" dirty="0">
                <a:solidFill>
                  <a:srgbClr val="E9EEFF"/>
                </a:solidFill>
                <a:latin typeface="Onest" pitchFamily="34" charset="0"/>
                <a:ea typeface="Onest" pitchFamily="34" charset="-122"/>
                <a:cs typeface="Onest" pitchFamily="34" charset="-120"/>
              </a:rPr>
              <a:t>Live municipal integration and validated deterioration prediction are </a:t>
            </a:r>
            <a:r>
              <a:rPr lang="en-US" sz="1600" b="1" dirty="0">
                <a:solidFill>
                  <a:srgbClr val="E9EEFF"/>
                </a:solidFill>
                <a:latin typeface="Onest Bold" pitchFamily="34" charset="0"/>
                <a:ea typeface="Onest Bold" pitchFamily="34" charset="-122"/>
                <a:cs typeface="Onest Bold" pitchFamily="34" charset="-120"/>
              </a:rPr>
              <a:t>out of MVP scope</a:t>
            </a:r>
            <a:r>
              <a:rPr lang="en-US" sz="1600" dirty="0">
                <a:solidFill>
                  <a:srgbClr val="E9EEFF"/>
                </a:solidFill>
                <a:latin typeface="Onest" pitchFamily="34" charset="0"/>
                <a:ea typeface="Onest" pitchFamily="34" charset="-122"/>
                <a:cs typeface="Onest" pitchFamily="34" charset="-120"/>
              </a:rPr>
              <a:t>.</a:t>
            </a:r>
            <a:endParaRPr lang="en-US" sz="1600" dirty="0"/>
          </a:p>
        </p:txBody>
      </p:sp>
      <p:sp>
        <p:nvSpPr>
          <p:cNvPr id="33" name="Rectangle 32"/>
          <p:cNvSpPr/>
          <p:nvPr/>
        </p:nvSpPr>
        <p:spPr>
          <a:xfrm>
            <a:off x="0" y="6588025"/>
            <a:ext cx="12183687" cy="261662"/>
          </a:xfrm>
          <a:prstGeom prst="rect">
            <a:avLst/>
          </a:prstGeom>
          <a:solidFill>
            <a:schemeClr val="accent2">
              <a:lumMod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IN" dirty="0" smtClean="0">
                <a:ln w="0"/>
                <a:solidFill>
                  <a:schemeClr val="tx1"/>
                </a:solidFill>
                <a:effectLst>
                  <a:outerShdw blurRad="38100" dist="19050" dir="2700000" algn="tl" rotWithShape="0">
                    <a:schemeClr val="dk1">
                      <a:alpha val="40000"/>
                    </a:schemeClr>
                  </a:outerShdw>
                </a:effectLst>
              </a:rPr>
              <a:t>Error 404</a:t>
            </a:r>
            <a:endParaRPr lang="en-IN"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907</Words>
  <Application>Microsoft Office PowerPoint</Application>
  <PresentationFormat>Widescreen</PresentationFormat>
  <Paragraphs>177</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Familjen Grotesk Bold</vt:lpstr>
      <vt:lpstr>Onest</vt:lpstr>
      <vt:lpstr>Calibri</vt:lpstr>
      <vt:lpstr>Onest SemiBold</vt:lpstr>
      <vt:lpstr>Onest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Rihaan Kataria</cp:lastModifiedBy>
  <cp:revision>2</cp:revision>
  <dcterms:created xsi:type="dcterms:W3CDTF">2026-10-09T09:56:36Z</dcterms:created>
  <dcterms:modified xsi:type="dcterms:W3CDTF">2026-10-09T19:14:17Z</dcterms:modified>
</cp:coreProperties>
</file>